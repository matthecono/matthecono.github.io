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I am Mattheus, from the Federal University of Pernambuco in Brazil. I will show you what happens to notifications of dengue, chikungunya and Zika when extreme heat and drought hit the same place in the same month — and why that coincidence can be used as an early-warning signal. (≈30 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Climate change is making compound extremes — heat and drought together — more frequent. Whether that worsens the arbovirus burden is unclear, because drought comes bundled with heat, poverty and seasonality. Here is what the literature finds. On the dry side, panel a, eleven studies all point the same way: drought raises risk. On the wet side, panel b, the picture is mixed: rain raises risk in some settings and flushes breeding sites in others. And almost all of this is correlational. Three studies do claim a causal effect, by synthetic control, causal discovery and causal machine learning. None of them identifies drought from exogenous, datable variation. That is the gap we fill. Our question is causal in the design sense — exogenous, datable shocks, not the biological mechanism: does the coincidence of extreme heat and drought raise the notified incidence of dengue, chikungunya and Zika? (≈60 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setting is Northeast Brazil: 1,786 municipalities, monthly, 2015 to early 2020 — about 110 thousand municipality-months. The outcome is the notified incidence of dengue, chikungunya and Zika, from the national surveillance system, taken together because the three share the same vector, Aedes aegypti. The interior is semi-arid: the most populous dry region on the planet, where drought is recurrent and water supply intermittent. (≈40 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shock is defined by two climatological conventions: at least three days above the local 90th percentile of maximum temperature — heat relative to each place's own climate — and one-month SPEI below minus one, meteorological drought. When both happen in the same month, the municipality is in the shock state; we lag it by one month. The key property: it switches on and off, it is datable, and nobody can anticipate it. (≈50 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it as a natural experiment run by the weather: no one chooses when heat and drought coincide, so the shocked months are as good as random once we account for place and season. Identification in plain terms: each municipality is first compared with itself — incidence after the shock versus just before it. That change is then set against the change over the same months in similar municipalities, same state and climate zone, that have not yet been shocked, so seasonal and regional waves cancel out. We follow this double difference for a year. It is a modern difference-in-differences estimator built for shocks that are staggered and recurrent. Six placebo months before the shock check that the groups were not already diverging. And this is why I say causal — the design, not the biology: exogenous, datable shocks, each municipality as its own control, flat pre-trends, negative-control exposures and a permutation test. It is the closest you get to a trial when the exposure is the weather. (≈55 s) [Q&amp;A, if asked why not estimate drought controlling for heat: heat and drought are physically coupled — the SPEI already embeds temperature through evapotranspiration — so controlling for heat is a bad control: it blocks part of the very channel we want to measure, and near-collinearity makes the drought coefficient unstable, which is why Wang et al. had to drop temperature. Taking the compound as one exogenous shock avoids separating two collinear dimensions.]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technically minded, the estimator in one picture and three equations. The picture: the shocked municipality and its comparison group move together before the shock — that is what the placebo months check — and after the shock the gap between the observed path and the counterfactual is the dynamic effect delta-ell. The equations: the shock is heat and drought in the same month, lagged one month; delta-ell is the change in the shocked group minus the change in not-yet-shocked comparables; theta sums the twelve horizons with the de Chaisemartin–D'Haultfoeuille weights; and the identifying assumption is parallel trends in the no-shock state. (≈40 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main result. Before the shock, in red, nothing: the placebo months are flat and jointly zero. After the shock, in blue, incidence rises, peaks around the fifth month and fades within a year. Summed over twelve months the total effect is 1.32 log points, confidence interval 0.16 to 2.49. Wide, because the compound shock is rare — but clearly positive. (≈50 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it the heat, the drought, or the coincidence? Same design, three definitions. Heat alone: imprecise, centred on zero. Drought alone: nothing discernible. Only the compound moves incidence — even though each isolated extreme is far more frequent, so has more statistical power. The coincidence is the object. (≈40 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and how. The effect concentrates in the semi-arid interior. And it works on the extensive margin: municipalities that were quiet start registering cases; places already in outbreak are not amplified. That pattern is consistent with a water-scarcity channel — people storing water at home when it is dry and hot — although the design does not test that mechanism directly. One more point: the sign of the compound depends on the water regime. Wang and colleagues, in monsoon Southeast Asia, find the same compound lowering dengue risk. Under recurrent scarcity, as here, it raises it. So the finding is located, not universal. (≈50 s) [Q&amp;A, if asked about Wang 2026: three differences. Context — monsoon climate, dengue risk peaking around 460 mm of rain a month, versus a semi-arid panel with about 74 mm a month. Object — they model heat, drought and their overlap as separate terms, so their compound coefficient is the net interaction; our Theta measures the compound event as a whole. Identification — ours is a rare, datable extreme relative to each place's own climatology, not baseline aridity.]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Robustness in one picture: we re-assign the shocks at random within state, climate zone and month, 150 times. The grey distribution is what you get by chance; the red line is our estimate — in the far tail, p equal 0.007. The result also survives finer regional trends and alternative drought indices. (≈30 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take-aways for practice. First, because the response is lagged and the shock is datable, monitoring heat and drought together opens a window of several months for targeted vector control — you know where and roughly when. The trigger is binary and readable in real time from open climate data; it needs no health series and no forecasting model. And because the effect is on the extensive margin, the map of past outbreaks is not enough: a quiet municipality can become a focus under the shock. Second, reliable water supply becomes a preventive measure in its own right. Third, methodologically, this is an attribution exercise: the impact of an extreme event, factual versus counterfactual, after a datable shock. Compound extremes can be used the same way for other outcomes in One Health. (≈60 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In one sentence: when extreme heat and drought coincide, notifications of dengue, chikungunya and Zika rise months later — a signal that can be dated, mapped and acted upon. I am happy to take questions. (≈15 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188720"/>
            <a:ext cx="10698480" cy="1828800"/>
          </a:xfrm>
          <a:prstGeom prst="rect">
            <a:avLst/>
          </a:prstGeom>
          <a:noFill/>
        </p:spPr>
        <p:txBody>
          <a:bodyPr wrap="square" anchor="t" lIns="45720" rIns="45720" tIns="18288" bIns="18288">
            <a:spAutoFit/>
          </a:bodyPr>
          <a:lstStyle/>
          <a:p>
            <a:pPr algn="l"/>
            <a:r>
              <a:rPr sz="4000" b="1" i="0">
                <a:solidFill>
                  <a:srgbClr val="FFFFFF"/>
                </a:solidFill>
                <a:latin typeface="Helvetica Neue"/>
              </a:rPr>
              <a:t>Compound heat–drought events as datable</a:t>
            </a:r>
          </a:p>
          <a:p>
            <a:pPr algn="l"/>
            <a:r>
              <a:rPr sz="4000" b="1" i="0">
                <a:solidFill>
                  <a:srgbClr val="FFFFFF"/>
                </a:solidFill>
                <a:latin typeface="Helvetica Neue"/>
              </a:rPr>
              <a:t>early-warning signals for arbovirus outbreaks</a:t>
            </a:r>
          </a:p>
        </p:txBody>
      </p:sp>
      <p:sp>
        <p:nvSpPr>
          <p:cNvPr id="4" name="TextBox 3"/>
          <p:cNvSpPr txBox="1"/>
          <p:nvPr/>
        </p:nvSpPr>
        <p:spPr>
          <a:xfrm>
            <a:off x="731520" y="3063240"/>
            <a:ext cx="10698480" cy="548640"/>
          </a:xfrm>
          <a:prstGeom prst="rect">
            <a:avLst/>
          </a:prstGeom>
          <a:noFill/>
        </p:spPr>
        <p:txBody>
          <a:bodyPr wrap="square" anchor="t" lIns="45720" rIns="45720" tIns="18288" bIns="18288">
            <a:spAutoFit/>
          </a:bodyPr>
          <a:lstStyle/>
          <a:p>
            <a:pPr algn="l"/>
            <a:r>
              <a:rPr sz="2600" b="0" i="0">
                <a:solidFill>
                  <a:srgbClr val="B0C4DE"/>
                </a:solidFill>
                <a:latin typeface="Helvetica Neue"/>
              </a:rPr>
              <a:t>Causal evidence from Northeast Brazil</a:t>
            </a:r>
          </a:p>
        </p:txBody>
      </p:sp>
      <p:sp>
        <p:nvSpPr>
          <p:cNvPr id="5" name="TextBox 4"/>
          <p:cNvSpPr txBox="1"/>
          <p:nvPr/>
        </p:nvSpPr>
        <p:spPr>
          <a:xfrm>
            <a:off x="731520" y="3886200"/>
            <a:ext cx="10698480" cy="1097280"/>
          </a:xfrm>
          <a:prstGeom prst="rect">
            <a:avLst/>
          </a:prstGeom>
          <a:noFill/>
        </p:spPr>
        <p:txBody>
          <a:bodyPr wrap="square" anchor="t" lIns="45720" rIns="45720" tIns="18288" bIns="18288">
            <a:spAutoFit/>
          </a:bodyPr>
          <a:lstStyle/>
          <a:p>
            <a:pPr algn="l"/>
            <a:r>
              <a:rPr sz="1600" b="1" i="0">
                <a:solidFill>
                  <a:srgbClr val="FFFFFF"/>
                </a:solidFill>
                <a:latin typeface="Helvetica Neue"/>
              </a:rPr>
              <a:t>Mattheus Rodrigues da Silva</a:t>
            </a:r>
            <a:r>
              <a:rPr sz="1600" b="0" i="0">
                <a:solidFill>
                  <a:srgbClr val="FFFFFF"/>
                </a:solidFill>
                <a:latin typeface="Helvetica Neue"/>
              </a:rPr>
              <a:t>¹ · Tatiane Almeida de Menezes¹ · Rafaela Camila da Silva Ferreira¹ · Celina Maria Turchi Martelli² · Noêmia Teixeira de Siqueira-Filha³</a:t>
            </a:r>
          </a:p>
          <a:p>
            <a:pPr algn="l"/>
            <a:r>
              <a:rPr sz="1600" b="0" i="0">
                <a:solidFill>
                  <a:srgbClr val="FFFFFF"/>
                </a:solidFill>
                <a:latin typeface="Helvetica Neue"/>
              </a:rPr>
              <a:t>¹ Universidade Federal de Pernambuco, Brazil · ² Instituto Aggeu Magalhães, Fiocruz, Brazil · ³ University of York, UK</a:t>
            </a:r>
          </a:p>
        </p:txBody>
      </p:sp>
      <p:sp>
        <p:nvSpPr>
          <p:cNvPr id="6" name="TextBox 5"/>
          <p:cNvSpPr txBox="1"/>
          <p:nvPr/>
        </p:nvSpPr>
        <p:spPr>
          <a:xfrm>
            <a:off x="731520" y="5074920"/>
            <a:ext cx="10698480" cy="457200"/>
          </a:xfrm>
          <a:prstGeom prst="rect">
            <a:avLst/>
          </a:prstGeom>
          <a:noFill/>
        </p:spPr>
        <p:txBody>
          <a:bodyPr wrap="square" anchor="t" lIns="45720" rIns="45720" tIns="18288" bIns="18288">
            <a:spAutoFit/>
          </a:bodyPr>
          <a:lstStyle/>
          <a:p>
            <a:pPr algn="l"/>
            <a:r>
              <a:rPr sz="1500" b="0" i="0">
                <a:solidFill>
                  <a:srgbClr val="B0C4DE"/>
                </a:solidFill>
                <a:latin typeface="Helvetica Neue"/>
              </a:rPr>
              <a:t>SCS23 LB — Late Breakers · Monday 7 September 2026 · Auditorium II</a:t>
            </a:r>
          </a:p>
        </p:txBody>
      </p:sp>
      <p:sp>
        <p:nvSpPr>
          <p:cNvPr id="7" name="Rectangle 6"/>
          <p:cNvSpPr/>
          <p:nvPr/>
        </p:nvSpPr>
        <p:spPr>
          <a:xfrm>
            <a:off x="0" y="5760720"/>
            <a:ext cx="12191695" cy="10972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ogo_ufpe.png"/>
          <p:cNvPicPr>
            <a:picLocks noChangeAspect="1"/>
          </p:cNvPicPr>
          <p:nvPr/>
        </p:nvPicPr>
        <p:blipFill>
          <a:blip r:embed="rId2"/>
          <a:stretch>
            <a:fillRect/>
          </a:stretch>
        </p:blipFill>
        <p:spPr>
          <a:xfrm>
            <a:off x="2733568" y="5920740"/>
            <a:ext cx="523248" cy="777240"/>
          </a:xfrm>
          <a:prstGeom prst="rect">
            <a:avLst/>
          </a:prstGeom>
        </p:spPr>
      </p:pic>
      <p:pic>
        <p:nvPicPr>
          <p:cNvPr id="9" name="Picture 8" descr="logo_pimes_transp.png"/>
          <p:cNvPicPr>
            <a:picLocks noChangeAspect="1"/>
          </p:cNvPicPr>
          <p:nvPr/>
        </p:nvPicPr>
        <p:blipFill>
          <a:blip r:embed="rId3"/>
          <a:stretch>
            <a:fillRect/>
          </a:stretch>
        </p:blipFill>
        <p:spPr>
          <a:xfrm>
            <a:off x="4079776" y="5989320"/>
            <a:ext cx="1072043" cy="640080"/>
          </a:xfrm>
          <a:prstGeom prst="rect">
            <a:avLst/>
          </a:prstGeom>
        </p:spPr>
      </p:pic>
      <p:pic>
        <p:nvPicPr>
          <p:cNvPr id="10" name="Picture 9" descr="logo_york_black.png"/>
          <p:cNvPicPr>
            <a:picLocks noChangeAspect="1"/>
          </p:cNvPicPr>
          <p:nvPr/>
        </p:nvPicPr>
        <p:blipFill>
          <a:blip r:embed="rId4"/>
          <a:stretch>
            <a:fillRect/>
          </a:stretch>
        </p:blipFill>
        <p:spPr>
          <a:xfrm>
            <a:off x="5974779" y="6025896"/>
            <a:ext cx="1454170" cy="566928"/>
          </a:xfrm>
          <a:prstGeom prst="rect">
            <a:avLst/>
          </a:prstGeom>
        </p:spPr>
      </p:pic>
      <p:pic>
        <p:nvPicPr>
          <p:cNvPr id="11" name="Picture 10" descr="logo_iats_care.png"/>
          <p:cNvPicPr>
            <a:picLocks noChangeAspect="1"/>
          </p:cNvPicPr>
          <p:nvPr/>
        </p:nvPicPr>
        <p:blipFill>
          <a:blip r:embed="rId5"/>
          <a:stretch>
            <a:fillRect/>
          </a:stretch>
        </p:blipFill>
        <p:spPr>
          <a:xfrm>
            <a:off x="8251910" y="5998464"/>
            <a:ext cx="1206217" cy="62179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332720" cy="731520"/>
          </a:xfrm>
          <a:prstGeom prst="rect">
            <a:avLst/>
          </a:prstGeom>
          <a:noFill/>
        </p:spPr>
        <p:txBody>
          <a:bodyPr wrap="square" anchor="ctr" lIns="45720" rIns="45720" tIns="18288" bIns="18288">
            <a:spAutoFit/>
          </a:bodyPr>
          <a:lstStyle/>
          <a:p>
            <a:pPr algn="l"/>
            <a:r>
              <a:rPr sz="2700" b="1" i="0">
                <a:solidFill>
                  <a:srgbClr val="FFFFFF"/>
                </a:solidFill>
                <a:latin typeface="Helvetica Neue"/>
              </a:rPr>
              <a:t>Why this matters for One Health</a:t>
            </a:r>
          </a:p>
        </p:txBody>
      </p:sp>
      <p:sp>
        <p:nvSpPr>
          <p:cNvPr id="4" name="TextBox 3"/>
          <p:cNvSpPr txBox="1"/>
          <p:nvPr/>
        </p:nvSpPr>
        <p:spPr>
          <a:xfrm>
            <a:off x="11094415" y="320040"/>
            <a:ext cx="731520" cy="365760"/>
          </a:xfrm>
          <a:prstGeom prst="rect">
            <a:avLst/>
          </a:prstGeom>
          <a:noFill/>
        </p:spPr>
        <p:txBody>
          <a:bodyPr wrap="square" anchor="t" lIns="45720" rIns="45720" tIns="18288" bIns="18288">
            <a:spAutoFit/>
          </a:bodyPr>
          <a:lstStyle/>
          <a:p>
            <a:pPr algn="r"/>
            <a:r>
              <a:rPr sz="1400" b="0" i="0">
                <a:solidFill>
                  <a:srgbClr val="B0C4DE"/>
                </a:solidFill>
                <a:latin typeface="Helvetica Neue"/>
              </a:rPr>
              <a:t>2</a:t>
            </a:r>
          </a:p>
        </p:txBody>
      </p:sp>
      <p:sp>
        <p:nvSpPr>
          <p:cNvPr id="5" name="Rectangle 4"/>
          <p:cNvSpPr/>
          <p:nvPr/>
        </p:nvSpPr>
        <p:spPr>
          <a:xfrm>
            <a:off x="0" y="6537960"/>
            <a:ext cx="12191695" cy="320040"/>
          </a:xfrm>
          <a:prstGeom prst="rect">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56248"/>
            <a:ext cx="9144000" cy="274320"/>
          </a:xfrm>
          <a:prstGeom prst="rect">
            <a:avLst/>
          </a:prstGeom>
          <a:noFill/>
        </p:spPr>
        <p:txBody>
          <a:bodyPr wrap="square" anchor="t" lIns="45720" rIns="45720" tIns="18288" bIns="18288">
            <a:spAutoFit/>
          </a:bodyPr>
          <a:lstStyle/>
          <a:p>
            <a:pPr algn="l"/>
            <a:r>
              <a:rPr sz="1100" b="0" i="0">
                <a:solidFill>
                  <a:srgbClr val="52514E"/>
                </a:solidFill>
                <a:latin typeface="Helvetica Neue"/>
              </a:rPr>
              <a:t>9th World One Health Congress · Lisbon 2026 · SCS23 LB · Abstract 2669</a:t>
            </a:r>
          </a:p>
        </p:txBody>
      </p:sp>
      <p:sp>
        <p:nvSpPr>
          <p:cNvPr id="7" name="TextBox 6"/>
          <p:cNvSpPr txBox="1"/>
          <p:nvPr/>
        </p:nvSpPr>
        <p:spPr>
          <a:xfrm>
            <a:off x="548640" y="1097280"/>
            <a:ext cx="6675120" cy="1600200"/>
          </a:xfrm>
          <a:prstGeom prst="rect">
            <a:avLst/>
          </a:prstGeom>
          <a:noFill/>
        </p:spPr>
        <p:txBody>
          <a:bodyPr wrap="square">
            <a:spAutoFit/>
          </a:bodyPr>
          <a:lstStyle/>
          <a:p>
            <a:pPr>
              <a:spcAft>
                <a:spcPts val="300"/>
              </a:spcAft>
            </a:pPr>
            <a:r>
              <a:rPr sz="1600" b="1">
                <a:solidFill>
                  <a:srgbClr val="2A78D6"/>
                </a:solidFill>
                <a:latin typeface="Helvetica Neue"/>
              </a:rPr>
              <a:t>•  </a:t>
            </a:r>
            <a:r>
              <a:rPr sz="1600" b="0">
                <a:solidFill>
                  <a:srgbClr val="1A1A1A"/>
                </a:solidFill>
                <a:latin typeface="Helvetica Neue"/>
              </a:rPr>
              <a:t>Climate change is making the </a:t>
            </a:r>
            <a:r>
              <a:rPr sz="1600" b="1">
                <a:solidFill>
                  <a:srgbClr val="1A1A1A"/>
                </a:solidFill>
                <a:latin typeface="Helvetica Neue"/>
              </a:rPr>
              <a:t>co-occurrence of extreme heat and drought</a:t>
            </a:r>
            <a:r>
              <a:rPr sz="1600" b="0">
                <a:solidFill>
                  <a:srgbClr val="1A1A1A"/>
                </a:solidFill>
                <a:latin typeface="Helvetica Neue"/>
              </a:rPr>
              <a:t> more frequent.</a:t>
            </a:r>
          </a:p>
          <a:p>
            <a:pPr>
              <a:spcAft>
                <a:spcPts val="300"/>
              </a:spcAft>
            </a:pPr>
            <a:r>
              <a:rPr sz="1600" b="1">
                <a:solidFill>
                  <a:srgbClr val="2A78D6"/>
                </a:solidFill>
                <a:latin typeface="Helvetica Neue"/>
              </a:rPr>
              <a:t>•  </a:t>
            </a:r>
            <a:r>
              <a:rPr sz="1600" b="0">
                <a:solidFill>
                  <a:srgbClr val="1A1A1A"/>
                </a:solidFill>
                <a:latin typeface="Helvetica Neue"/>
              </a:rPr>
              <a:t>Whether this </a:t>
            </a:r>
            <a:r>
              <a:rPr sz="1600" b="1">
                <a:solidFill>
                  <a:srgbClr val="1A1A1A"/>
                </a:solidFill>
                <a:latin typeface="Helvetica Neue"/>
              </a:rPr>
              <a:t>compound exposure</a:t>
            </a:r>
            <a:r>
              <a:rPr sz="1600" b="0">
                <a:solidFill>
                  <a:srgbClr val="1A1A1A"/>
                </a:solidFill>
                <a:latin typeface="Helvetica Neue"/>
              </a:rPr>
              <a:t> worsens the burden of dengue, chikungunya and Zika is unclear: drought is </a:t>
            </a:r>
            <a:r>
              <a:rPr sz="1600" b="1">
                <a:solidFill>
                  <a:srgbClr val="1A1A1A"/>
                </a:solidFill>
                <a:latin typeface="Helvetica Neue"/>
              </a:rPr>
              <a:t>confounded</a:t>
            </a:r>
            <a:r>
              <a:rPr sz="1600" b="0">
                <a:solidFill>
                  <a:srgbClr val="1A1A1A"/>
                </a:solidFill>
                <a:latin typeface="Helvetica Neue"/>
              </a:rPr>
              <a:t> with heat, deprivation and seasonality.</a:t>
            </a:r>
          </a:p>
        </p:txBody>
      </p:sp>
      <p:sp>
        <p:nvSpPr>
          <p:cNvPr id="8" name="Rectangle 7"/>
          <p:cNvSpPr/>
          <p:nvPr/>
        </p:nvSpPr>
        <p:spPr>
          <a:xfrm>
            <a:off x="7498079" y="1097280"/>
            <a:ext cx="4206240" cy="1600200"/>
          </a:xfrm>
          <a:prstGeom prst="rect">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0" y="1143000"/>
            <a:ext cx="3840480" cy="365760"/>
          </a:xfrm>
          <a:prstGeom prst="rect">
            <a:avLst/>
          </a:prstGeom>
          <a:noFill/>
        </p:spPr>
        <p:txBody>
          <a:bodyPr wrap="square" anchor="t" lIns="45720" rIns="45720" tIns="18288" bIns="18288">
            <a:spAutoFit/>
          </a:bodyPr>
          <a:lstStyle/>
          <a:p>
            <a:pPr algn="l"/>
            <a:r>
              <a:rPr sz="1400" b="1" i="0">
                <a:solidFill>
                  <a:srgbClr val="143A66"/>
                </a:solidFill>
                <a:latin typeface="Helvetica Neue"/>
              </a:rPr>
              <a:t>Our question</a:t>
            </a:r>
          </a:p>
        </p:txBody>
      </p:sp>
      <p:sp>
        <p:nvSpPr>
          <p:cNvPr id="10" name="TextBox 9"/>
          <p:cNvSpPr txBox="1"/>
          <p:nvPr/>
        </p:nvSpPr>
        <p:spPr>
          <a:xfrm>
            <a:off x="7680960" y="1463040"/>
            <a:ext cx="3840480" cy="1234440"/>
          </a:xfrm>
          <a:prstGeom prst="rect">
            <a:avLst/>
          </a:prstGeom>
          <a:noFill/>
        </p:spPr>
        <p:txBody>
          <a:bodyPr wrap="square" anchor="t" lIns="45720" rIns="45720" tIns="18288" bIns="18288">
            <a:spAutoFit/>
          </a:bodyPr>
          <a:lstStyle/>
          <a:p>
            <a:pPr algn="l"/>
            <a:r>
              <a:rPr sz="1350" b="0" i="0">
                <a:solidFill>
                  <a:srgbClr val="1A1A1A"/>
                </a:solidFill>
                <a:latin typeface="Helvetica Neue"/>
              </a:rPr>
              <a:t>Does the coincidence of extreme heat and drought causally increase the notified incidence of urban arboviruses? “Causal” in the design sense: exogenous, datable shocks — not the biological mechanism.</a:t>
            </a:r>
          </a:p>
        </p:txBody>
      </p:sp>
      <p:pic>
        <p:nvPicPr>
          <p:cNvPr id="11" name="Picture 10" descr="evidence_drought_en.png"/>
          <p:cNvPicPr>
            <a:picLocks noChangeAspect="1"/>
          </p:cNvPicPr>
          <p:nvPr/>
        </p:nvPicPr>
        <p:blipFill>
          <a:blip r:embed="rId2"/>
          <a:stretch>
            <a:fillRect/>
          </a:stretch>
        </p:blipFill>
        <p:spPr>
          <a:xfrm>
            <a:off x="502920" y="2743200"/>
            <a:ext cx="11155680" cy="3517703"/>
          </a:xfrm>
          <a:prstGeom prst="rect">
            <a:avLst/>
          </a:prstGeom>
        </p:spPr>
      </p:pic>
      <p:sp>
        <p:nvSpPr>
          <p:cNvPr id="12" name="TextBox 11"/>
          <p:cNvSpPr txBox="1"/>
          <p:nvPr/>
        </p:nvSpPr>
        <p:spPr>
          <a:xfrm>
            <a:off x="548640" y="6217920"/>
            <a:ext cx="11155680" cy="320040"/>
          </a:xfrm>
          <a:prstGeom prst="rect">
            <a:avLst/>
          </a:prstGeom>
          <a:noFill/>
        </p:spPr>
        <p:txBody>
          <a:bodyPr wrap="square" anchor="t" lIns="45720" rIns="45720" tIns="18288" bIns="18288">
            <a:spAutoFit/>
          </a:bodyPr>
          <a:lstStyle/>
          <a:p>
            <a:pPr algn="l"/>
            <a:r>
              <a:rPr sz="1150" b="0" i="1">
                <a:solidFill>
                  <a:srgbClr val="52514E"/>
                </a:solidFill>
                <a:latin typeface="Helvetica Neue"/>
              </a:rPr>
              <a:t>What the literature finds: consensus on the dry side, disagreement on the wet side — almost all correlational; the causal claims rely on synthetic control, causal discovery or causal machine learning — none identifies drought from exogenous, datable variation.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332720" cy="731520"/>
          </a:xfrm>
          <a:prstGeom prst="rect">
            <a:avLst/>
          </a:prstGeom>
          <a:noFill/>
        </p:spPr>
        <p:txBody>
          <a:bodyPr wrap="square" anchor="ctr" lIns="45720" rIns="45720" tIns="18288" bIns="18288">
            <a:spAutoFit/>
          </a:bodyPr>
          <a:lstStyle/>
          <a:p>
            <a:pPr algn="l"/>
            <a:r>
              <a:rPr sz="2700" b="1" i="0">
                <a:solidFill>
                  <a:srgbClr val="FFFFFF"/>
                </a:solidFill>
                <a:latin typeface="Helvetica Neue"/>
              </a:rPr>
              <a:t>Setting: Northeast Brazil, a semi-arid, high-burden region</a:t>
            </a:r>
          </a:p>
        </p:txBody>
      </p:sp>
      <p:sp>
        <p:nvSpPr>
          <p:cNvPr id="4" name="TextBox 3"/>
          <p:cNvSpPr txBox="1"/>
          <p:nvPr/>
        </p:nvSpPr>
        <p:spPr>
          <a:xfrm>
            <a:off x="11094415" y="320040"/>
            <a:ext cx="731520" cy="365760"/>
          </a:xfrm>
          <a:prstGeom prst="rect">
            <a:avLst/>
          </a:prstGeom>
          <a:noFill/>
        </p:spPr>
        <p:txBody>
          <a:bodyPr wrap="square" anchor="t" lIns="45720" rIns="45720" tIns="18288" bIns="18288">
            <a:spAutoFit/>
          </a:bodyPr>
          <a:lstStyle/>
          <a:p>
            <a:pPr algn="r"/>
            <a:r>
              <a:rPr sz="1400" b="0" i="0">
                <a:solidFill>
                  <a:srgbClr val="B0C4DE"/>
                </a:solidFill>
                <a:latin typeface="Helvetica Neue"/>
              </a:rPr>
              <a:t>3</a:t>
            </a:r>
          </a:p>
        </p:txBody>
      </p:sp>
      <p:sp>
        <p:nvSpPr>
          <p:cNvPr id="5" name="Rectangle 4"/>
          <p:cNvSpPr/>
          <p:nvPr/>
        </p:nvSpPr>
        <p:spPr>
          <a:xfrm>
            <a:off x="0" y="6537960"/>
            <a:ext cx="12191695" cy="320040"/>
          </a:xfrm>
          <a:prstGeom prst="rect">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56248"/>
            <a:ext cx="9144000" cy="274320"/>
          </a:xfrm>
          <a:prstGeom prst="rect">
            <a:avLst/>
          </a:prstGeom>
          <a:noFill/>
        </p:spPr>
        <p:txBody>
          <a:bodyPr wrap="square" anchor="t" lIns="45720" rIns="45720" tIns="18288" bIns="18288">
            <a:spAutoFit/>
          </a:bodyPr>
          <a:lstStyle/>
          <a:p>
            <a:pPr algn="l"/>
            <a:r>
              <a:rPr sz="1100" b="0" i="0">
                <a:solidFill>
                  <a:srgbClr val="52514E"/>
                </a:solidFill>
                <a:latin typeface="Helvetica Neue"/>
              </a:rPr>
              <a:t>9th World One Health Congress · Lisbon 2026 · SCS23 LB · Abstract 2669</a:t>
            </a:r>
          </a:p>
        </p:txBody>
      </p:sp>
      <p:pic>
        <p:nvPicPr>
          <p:cNvPr id="7" name="Picture 6" descr="map_ne_plain.png"/>
          <p:cNvPicPr>
            <a:picLocks noChangeAspect="1"/>
          </p:cNvPicPr>
          <p:nvPr/>
        </p:nvPicPr>
        <p:blipFill>
          <a:blip r:embed="rId2"/>
          <a:stretch>
            <a:fillRect/>
          </a:stretch>
        </p:blipFill>
        <p:spPr>
          <a:xfrm>
            <a:off x="365760" y="1097280"/>
            <a:ext cx="8138160" cy="5335673"/>
          </a:xfrm>
          <a:prstGeom prst="rect">
            <a:avLst/>
          </a:prstGeom>
        </p:spPr>
      </p:pic>
      <p:sp>
        <p:nvSpPr>
          <p:cNvPr id="8" name="TextBox 7"/>
          <p:cNvSpPr txBox="1"/>
          <p:nvPr/>
        </p:nvSpPr>
        <p:spPr>
          <a:xfrm>
            <a:off x="8595360" y="1371600"/>
            <a:ext cx="3291840" cy="5120640"/>
          </a:xfrm>
          <a:prstGeom prst="rect">
            <a:avLst/>
          </a:prstGeom>
          <a:noFill/>
        </p:spPr>
        <p:txBody>
          <a:bodyPr wrap="square">
            <a:spAutoFit/>
          </a:bodyPr>
          <a:lstStyle/>
          <a:p>
            <a:pPr>
              <a:spcAft>
                <a:spcPts val="800"/>
              </a:spcAft>
            </a:pPr>
            <a:r>
              <a:rPr sz="1600" b="1">
                <a:solidFill>
                  <a:srgbClr val="2A78D6"/>
                </a:solidFill>
                <a:latin typeface="Helvetica Neue"/>
              </a:rPr>
              <a:t>•  </a:t>
            </a:r>
            <a:r>
              <a:rPr sz="1600" b="0">
                <a:solidFill>
                  <a:srgbClr val="1A1A1A"/>
                </a:solidFill>
                <a:latin typeface="Helvetica Neue"/>
              </a:rPr>
              <a:t>All </a:t>
            </a:r>
            <a:r>
              <a:rPr sz="1600" b="1">
                <a:solidFill>
                  <a:srgbClr val="1A1A1A"/>
                </a:solidFill>
                <a:latin typeface="Helvetica Neue"/>
              </a:rPr>
              <a:t>1,786 municipalities</a:t>
            </a:r>
            <a:r>
              <a:rPr sz="1600" b="0">
                <a:solidFill>
                  <a:srgbClr val="1A1A1A"/>
                </a:solidFill>
                <a:latin typeface="Helvetica Neue"/>
              </a:rPr>
              <a:t> of the nine Northeast states</a:t>
            </a:r>
          </a:p>
          <a:p>
            <a:pPr>
              <a:spcAft>
                <a:spcPts val="800"/>
              </a:spcAft>
            </a:pPr>
            <a:r>
              <a:rPr sz="1600" b="1">
                <a:solidFill>
                  <a:srgbClr val="2A78D6"/>
                </a:solidFill>
                <a:latin typeface="Helvetica Neue"/>
              </a:rPr>
              <a:t>•  </a:t>
            </a:r>
            <a:r>
              <a:rPr sz="1600" b="0">
                <a:solidFill>
                  <a:srgbClr val="1A1A1A"/>
                </a:solidFill>
                <a:latin typeface="Helvetica Neue"/>
              </a:rPr>
              <a:t>Monthly panel, </a:t>
            </a:r>
            <a:r>
              <a:rPr sz="1600" b="1">
                <a:solidFill>
                  <a:srgbClr val="1A1A1A"/>
                </a:solidFill>
                <a:latin typeface="Helvetica Neue"/>
              </a:rPr>
              <a:t>January 2015 – February 2020</a:t>
            </a:r>
            <a:r>
              <a:rPr sz="1600" b="0">
                <a:solidFill>
                  <a:srgbClr val="1A1A1A"/>
                </a:solidFill>
                <a:latin typeface="Helvetica Neue"/>
              </a:rPr>
              <a:t> (about 110,000 municipality-months)</a:t>
            </a:r>
          </a:p>
          <a:p>
            <a:pPr>
              <a:spcAft>
                <a:spcPts val="800"/>
              </a:spcAft>
            </a:pPr>
            <a:r>
              <a:rPr sz="1600" b="1">
                <a:solidFill>
                  <a:srgbClr val="2A78D6"/>
                </a:solidFill>
                <a:latin typeface="Helvetica Neue"/>
              </a:rPr>
              <a:t>•  </a:t>
            </a:r>
            <a:r>
              <a:rPr sz="1600" b="0">
                <a:solidFill>
                  <a:srgbClr val="1A1A1A"/>
                </a:solidFill>
                <a:latin typeface="Helvetica Neue"/>
              </a:rPr>
              <a:t>Outcome: </a:t>
            </a:r>
            <a:r>
              <a:rPr sz="1600" b="1">
                <a:solidFill>
                  <a:srgbClr val="1A1A1A"/>
                </a:solidFill>
                <a:latin typeface="Helvetica Neue"/>
              </a:rPr>
              <a:t>notified urban arboviruses</a:t>
            </a:r>
            <a:r>
              <a:rPr sz="1600" b="0">
                <a:solidFill>
                  <a:srgbClr val="1A1A1A"/>
                </a:solidFill>
                <a:latin typeface="Helvetica Neue"/>
              </a:rPr>
              <a:t> (dengue, chikungunya, Zika) per 100,000 — national surveillance system</a:t>
            </a:r>
          </a:p>
          <a:p>
            <a:pPr>
              <a:spcAft>
                <a:spcPts val="800"/>
              </a:spcAft>
            </a:pPr>
            <a:r>
              <a:rPr sz="1600" b="1">
                <a:solidFill>
                  <a:srgbClr val="2A78D6"/>
                </a:solidFill>
                <a:latin typeface="Helvetica Neue"/>
              </a:rPr>
              <a:t>•  </a:t>
            </a:r>
            <a:r>
              <a:rPr sz="1600" b="0">
                <a:solidFill>
                  <a:srgbClr val="1A1A1A"/>
                </a:solidFill>
                <a:latin typeface="Helvetica Neue"/>
              </a:rPr>
              <a:t>Climate from a daily gridded dataset, aggregated to each municipality</a:t>
            </a:r>
          </a:p>
          <a:p>
            <a:pPr>
              <a:spcAft>
                <a:spcPts val="800"/>
              </a:spcAft>
            </a:pPr>
            <a:r>
              <a:rPr sz="1600" b="1">
                <a:solidFill>
                  <a:srgbClr val="2A78D6"/>
                </a:solidFill>
                <a:latin typeface="Helvetica Neue"/>
              </a:rPr>
              <a:t>•  </a:t>
            </a:r>
            <a:r>
              <a:rPr sz="1600" b="0">
                <a:solidFill>
                  <a:srgbClr val="1A1A1A"/>
                </a:solidFill>
                <a:latin typeface="Helvetica Neue"/>
              </a:rPr>
              <a:t>The interior </a:t>
            </a:r>
            <a:r>
              <a:rPr sz="1600" b="1">
                <a:solidFill>
                  <a:srgbClr val="1A1A1A"/>
                </a:solidFill>
                <a:latin typeface="Helvetica Neue"/>
              </a:rPr>
              <a:t>(semi-arid)</a:t>
            </a:r>
            <a:r>
              <a:rPr sz="1600" b="0">
                <a:solidFill>
                  <a:srgbClr val="1A1A1A"/>
                </a:solidFill>
                <a:latin typeface="Helvetica Neue"/>
              </a:rPr>
              <a:t> is the most populous dry region on Earth: recurrent drought, intermittent water supply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332720" cy="731520"/>
          </a:xfrm>
          <a:prstGeom prst="rect">
            <a:avLst/>
          </a:prstGeom>
          <a:noFill/>
        </p:spPr>
        <p:txBody>
          <a:bodyPr wrap="square" anchor="ctr" lIns="45720" rIns="45720" tIns="18288" bIns="18288">
            <a:spAutoFit/>
          </a:bodyPr>
          <a:lstStyle/>
          <a:p>
            <a:pPr algn="l"/>
            <a:r>
              <a:rPr sz="2700" b="1" i="0">
                <a:solidFill>
                  <a:srgbClr val="FFFFFF"/>
                </a:solidFill>
                <a:latin typeface="Helvetica Neue"/>
              </a:rPr>
              <a:t>What counts as a compound heat–drought shock</a:t>
            </a:r>
          </a:p>
        </p:txBody>
      </p:sp>
      <p:sp>
        <p:nvSpPr>
          <p:cNvPr id="4" name="TextBox 3"/>
          <p:cNvSpPr txBox="1"/>
          <p:nvPr/>
        </p:nvSpPr>
        <p:spPr>
          <a:xfrm>
            <a:off x="11094415" y="320040"/>
            <a:ext cx="731520" cy="365760"/>
          </a:xfrm>
          <a:prstGeom prst="rect">
            <a:avLst/>
          </a:prstGeom>
          <a:noFill/>
        </p:spPr>
        <p:txBody>
          <a:bodyPr wrap="square" anchor="t" lIns="45720" rIns="45720" tIns="18288" bIns="18288">
            <a:spAutoFit/>
          </a:bodyPr>
          <a:lstStyle/>
          <a:p>
            <a:pPr algn="r"/>
            <a:r>
              <a:rPr sz="1400" b="0" i="0">
                <a:solidFill>
                  <a:srgbClr val="B0C4DE"/>
                </a:solidFill>
                <a:latin typeface="Helvetica Neue"/>
              </a:rPr>
              <a:t>4</a:t>
            </a:r>
          </a:p>
        </p:txBody>
      </p:sp>
      <p:sp>
        <p:nvSpPr>
          <p:cNvPr id="5" name="Rectangle 4"/>
          <p:cNvSpPr/>
          <p:nvPr/>
        </p:nvSpPr>
        <p:spPr>
          <a:xfrm>
            <a:off x="0" y="6537960"/>
            <a:ext cx="12191695" cy="320040"/>
          </a:xfrm>
          <a:prstGeom prst="rect">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56248"/>
            <a:ext cx="9144000" cy="274320"/>
          </a:xfrm>
          <a:prstGeom prst="rect">
            <a:avLst/>
          </a:prstGeom>
          <a:noFill/>
        </p:spPr>
        <p:txBody>
          <a:bodyPr wrap="square" anchor="t" lIns="45720" rIns="45720" tIns="18288" bIns="18288">
            <a:spAutoFit/>
          </a:bodyPr>
          <a:lstStyle/>
          <a:p>
            <a:pPr algn="l"/>
            <a:r>
              <a:rPr sz="1100" b="0" i="0">
                <a:solidFill>
                  <a:srgbClr val="52514E"/>
                </a:solidFill>
                <a:latin typeface="Helvetica Neue"/>
              </a:rPr>
              <a:t>9th World One Health Congress · Lisbon 2026 · SCS23 LB · Abstract 2669</a:t>
            </a:r>
          </a:p>
        </p:txBody>
      </p:sp>
      <p:sp>
        <p:nvSpPr>
          <p:cNvPr id="7" name="Rectangle 6"/>
          <p:cNvSpPr/>
          <p:nvPr/>
        </p:nvSpPr>
        <p:spPr>
          <a:xfrm>
            <a:off x="640080" y="1463040"/>
            <a:ext cx="4754880" cy="2377440"/>
          </a:xfrm>
          <a:prstGeom prst="rect">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00200"/>
            <a:ext cx="4389120" cy="457200"/>
          </a:xfrm>
          <a:prstGeom prst="rect">
            <a:avLst/>
          </a:prstGeom>
          <a:noFill/>
        </p:spPr>
        <p:txBody>
          <a:bodyPr wrap="square" anchor="t" lIns="45720" rIns="45720" tIns="18288" bIns="18288">
            <a:spAutoFit/>
          </a:bodyPr>
          <a:lstStyle/>
          <a:p>
            <a:pPr algn="l"/>
            <a:r>
              <a:rPr sz="1800" b="1" i="0">
                <a:solidFill>
                  <a:srgbClr val="EB6834"/>
                </a:solidFill>
                <a:latin typeface="Helvetica Neue"/>
              </a:rPr>
              <a:t>EXTREME HEAT</a:t>
            </a:r>
          </a:p>
        </p:txBody>
      </p:sp>
      <p:sp>
        <p:nvSpPr>
          <p:cNvPr id="9" name="TextBox 8"/>
          <p:cNvSpPr txBox="1"/>
          <p:nvPr/>
        </p:nvSpPr>
        <p:spPr>
          <a:xfrm>
            <a:off x="868680" y="2057400"/>
            <a:ext cx="4389120" cy="1737360"/>
          </a:xfrm>
          <a:prstGeom prst="rect">
            <a:avLst/>
          </a:prstGeom>
          <a:noFill/>
        </p:spPr>
        <p:txBody>
          <a:bodyPr wrap="square" anchor="t" lIns="45720" rIns="45720" tIns="18288" bIns="18288">
            <a:spAutoFit/>
          </a:bodyPr>
          <a:lstStyle/>
          <a:p>
            <a:pPr algn="l"/>
            <a:r>
              <a:rPr sz="2000" b="0" i="0">
                <a:solidFill>
                  <a:srgbClr val="1A1A1A"/>
                </a:solidFill>
                <a:latin typeface="Helvetica Neue"/>
              </a:rPr>
              <a:t>At least 3 days in the month with maximum temperature above the municipality's own 90th percentile</a:t>
            </a:r>
          </a:p>
        </p:txBody>
      </p:sp>
      <p:sp>
        <p:nvSpPr>
          <p:cNvPr id="10" name="TextBox 9"/>
          <p:cNvSpPr txBox="1"/>
          <p:nvPr/>
        </p:nvSpPr>
        <p:spPr>
          <a:xfrm>
            <a:off x="5532120" y="2103120"/>
            <a:ext cx="1097280" cy="914400"/>
          </a:xfrm>
          <a:prstGeom prst="rect">
            <a:avLst/>
          </a:prstGeom>
          <a:noFill/>
        </p:spPr>
        <p:txBody>
          <a:bodyPr wrap="square" anchor="t" lIns="45720" rIns="45720" tIns="18288" bIns="18288">
            <a:spAutoFit/>
          </a:bodyPr>
          <a:lstStyle/>
          <a:p>
            <a:pPr algn="ctr"/>
            <a:r>
              <a:rPr sz="5400" b="1" i="0">
                <a:solidFill>
                  <a:srgbClr val="143A66"/>
                </a:solidFill>
                <a:latin typeface="Helvetica Neue"/>
              </a:rPr>
              <a:t>+</a:t>
            </a:r>
          </a:p>
        </p:txBody>
      </p:sp>
      <p:sp>
        <p:nvSpPr>
          <p:cNvPr id="11" name="Rectangle 10"/>
          <p:cNvSpPr/>
          <p:nvPr/>
        </p:nvSpPr>
        <p:spPr>
          <a:xfrm>
            <a:off x="6766560" y="1463040"/>
            <a:ext cx="4754880" cy="2377440"/>
          </a:xfrm>
          <a:prstGeom prst="rect">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95160" y="1600200"/>
            <a:ext cx="4389120" cy="457200"/>
          </a:xfrm>
          <a:prstGeom prst="rect">
            <a:avLst/>
          </a:prstGeom>
          <a:noFill/>
        </p:spPr>
        <p:txBody>
          <a:bodyPr wrap="square" anchor="t" lIns="45720" rIns="45720" tIns="18288" bIns="18288">
            <a:spAutoFit/>
          </a:bodyPr>
          <a:lstStyle/>
          <a:p>
            <a:pPr algn="l"/>
            <a:r>
              <a:rPr sz="1800" b="1" i="0">
                <a:solidFill>
                  <a:srgbClr val="2A78D6"/>
                </a:solidFill>
                <a:latin typeface="Helvetica Neue"/>
              </a:rPr>
              <a:t>METEOROLOGICAL DROUGHT</a:t>
            </a:r>
          </a:p>
        </p:txBody>
      </p:sp>
      <p:sp>
        <p:nvSpPr>
          <p:cNvPr id="13" name="TextBox 12"/>
          <p:cNvSpPr txBox="1"/>
          <p:nvPr/>
        </p:nvSpPr>
        <p:spPr>
          <a:xfrm>
            <a:off x="6995160" y="2057400"/>
            <a:ext cx="4389120" cy="1737360"/>
          </a:xfrm>
          <a:prstGeom prst="rect">
            <a:avLst/>
          </a:prstGeom>
          <a:noFill/>
        </p:spPr>
        <p:txBody>
          <a:bodyPr wrap="square" anchor="t" lIns="45720" rIns="45720" tIns="18288" bIns="18288">
            <a:spAutoFit/>
          </a:bodyPr>
          <a:lstStyle/>
          <a:p>
            <a:pPr algn="l"/>
            <a:r>
              <a:rPr sz="2000" b="0" i="0">
                <a:solidFill>
                  <a:srgbClr val="1A1A1A"/>
                </a:solidFill>
                <a:latin typeface="Helvetica Neue"/>
              </a:rPr>
              <a:t>One-month SPEI below −1: the month's water balance (rain minus evaporation) more than one standard deviation below the local norm</a:t>
            </a:r>
          </a:p>
        </p:txBody>
      </p:sp>
      <p:sp>
        <p:nvSpPr>
          <p:cNvPr id="14" name="TextBox 13"/>
          <p:cNvSpPr txBox="1"/>
          <p:nvPr/>
        </p:nvSpPr>
        <p:spPr>
          <a:xfrm>
            <a:off x="640080" y="4206240"/>
            <a:ext cx="10972800" cy="2194560"/>
          </a:xfrm>
          <a:prstGeom prst="rect">
            <a:avLst/>
          </a:prstGeom>
          <a:noFill/>
        </p:spPr>
        <p:txBody>
          <a:bodyPr wrap="square">
            <a:spAutoFit/>
          </a:bodyPr>
          <a:lstStyle/>
          <a:p>
            <a:pPr>
              <a:spcAft>
                <a:spcPts val="800"/>
              </a:spcAft>
            </a:pPr>
            <a:r>
              <a:rPr sz="1900" b="1">
                <a:solidFill>
                  <a:srgbClr val="2A78D6"/>
                </a:solidFill>
                <a:latin typeface="Helvetica Neue"/>
              </a:rPr>
              <a:t>•  </a:t>
            </a:r>
            <a:r>
              <a:rPr sz="1900" b="0">
                <a:solidFill>
                  <a:srgbClr val="1A1A1A"/>
                </a:solidFill>
                <a:latin typeface="Helvetica Neue"/>
              </a:rPr>
              <a:t>Both in the </a:t>
            </a:r>
            <a:r>
              <a:rPr sz="1900" b="1">
                <a:solidFill>
                  <a:srgbClr val="1A1A1A"/>
                </a:solidFill>
                <a:latin typeface="Helvetica Neue"/>
              </a:rPr>
              <a:t>same month</a:t>
            </a:r>
            <a:r>
              <a:rPr sz="1900" b="0">
                <a:solidFill>
                  <a:srgbClr val="1A1A1A"/>
                </a:solidFill>
                <a:latin typeface="Helvetica Neue"/>
              </a:rPr>
              <a:t> → the municipality enters the shock state; the exposure is </a:t>
            </a:r>
            <a:r>
              <a:rPr sz="1900" b="1">
                <a:solidFill>
                  <a:srgbClr val="1A1A1A"/>
                </a:solidFill>
                <a:latin typeface="Helvetica Neue"/>
              </a:rPr>
              <a:t>lagged one month</a:t>
            </a:r>
            <a:r>
              <a:rPr sz="1900" b="0">
                <a:solidFill>
                  <a:srgbClr val="1A1A1A"/>
                </a:solidFill>
                <a:latin typeface="Helvetica Neue"/>
              </a:rPr>
              <a:t> (incubation and reporting delay).</a:t>
            </a:r>
          </a:p>
          <a:p>
            <a:pPr>
              <a:spcAft>
                <a:spcPts val="800"/>
              </a:spcAft>
            </a:pPr>
            <a:r>
              <a:rPr sz="1900" b="1">
                <a:solidFill>
                  <a:srgbClr val="2A78D6"/>
                </a:solidFill>
                <a:latin typeface="Helvetica Neue"/>
              </a:rPr>
              <a:t>•  </a:t>
            </a:r>
            <a:r>
              <a:rPr sz="1900" b="0">
                <a:solidFill>
                  <a:srgbClr val="1A1A1A"/>
                </a:solidFill>
                <a:latin typeface="Helvetica Neue"/>
              </a:rPr>
              <a:t>The shock </a:t>
            </a:r>
            <a:r>
              <a:rPr sz="1900" b="1">
                <a:solidFill>
                  <a:srgbClr val="1A1A1A"/>
                </a:solidFill>
                <a:latin typeface="Helvetica Neue"/>
              </a:rPr>
              <a:t>switches on and off</a:t>
            </a:r>
            <a:r>
              <a:rPr sz="1900" b="0">
                <a:solidFill>
                  <a:srgbClr val="1A1A1A"/>
                </a:solidFill>
                <a:latin typeface="Helvetica Neue"/>
              </a:rPr>
              <a:t>: it is datable, recurrent and plausibly exogenous — weather, not a decision anyone announces.</a:t>
            </a:r>
          </a:p>
          <a:p>
            <a:pPr>
              <a:spcAft>
                <a:spcPts val="800"/>
              </a:spcAft>
            </a:pPr>
            <a:r>
              <a:rPr sz="1900" b="1">
                <a:solidFill>
                  <a:srgbClr val="2A78D6"/>
                </a:solidFill>
                <a:latin typeface="Helvetica Neue"/>
              </a:rPr>
              <a:t>•  </a:t>
            </a:r>
            <a:r>
              <a:rPr sz="1900" b="0">
                <a:solidFill>
                  <a:srgbClr val="1A1A1A"/>
                </a:solidFill>
                <a:latin typeface="Helvetica Neue"/>
              </a:rPr>
              <a:t>Thresholds are external climatological conventions, fixed before estimation.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332720" cy="731520"/>
          </a:xfrm>
          <a:prstGeom prst="rect">
            <a:avLst/>
          </a:prstGeom>
          <a:noFill/>
        </p:spPr>
        <p:txBody>
          <a:bodyPr wrap="square" anchor="ctr" lIns="45720" rIns="45720" tIns="18288" bIns="18288">
            <a:spAutoFit/>
          </a:bodyPr>
          <a:lstStyle/>
          <a:p>
            <a:pPr algn="l"/>
            <a:r>
              <a:rPr sz="2700" b="1" i="0">
                <a:solidFill>
                  <a:srgbClr val="FFFFFF"/>
                </a:solidFill>
                <a:latin typeface="Helvetica Neue"/>
              </a:rPr>
              <a:t>How we isolate the effect (in plain terms)</a:t>
            </a:r>
          </a:p>
        </p:txBody>
      </p:sp>
      <p:sp>
        <p:nvSpPr>
          <p:cNvPr id="4" name="TextBox 3"/>
          <p:cNvSpPr txBox="1"/>
          <p:nvPr/>
        </p:nvSpPr>
        <p:spPr>
          <a:xfrm>
            <a:off x="11094415" y="320040"/>
            <a:ext cx="731520" cy="365760"/>
          </a:xfrm>
          <a:prstGeom prst="rect">
            <a:avLst/>
          </a:prstGeom>
          <a:noFill/>
        </p:spPr>
        <p:txBody>
          <a:bodyPr wrap="square" anchor="t" lIns="45720" rIns="45720" tIns="18288" bIns="18288">
            <a:spAutoFit/>
          </a:bodyPr>
          <a:lstStyle/>
          <a:p>
            <a:pPr algn="r"/>
            <a:r>
              <a:rPr sz="1400" b="0" i="0">
                <a:solidFill>
                  <a:srgbClr val="B0C4DE"/>
                </a:solidFill>
                <a:latin typeface="Helvetica Neue"/>
              </a:rPr>
              <a:t>5</a:t>
            </a:r>
          </a:p>
        </p:txBody>
      </p:sp>
      <p:sp>
        <p:nvSpPr>
          <p:cNvPr id="5" name="Rectangle 4"/>
          <p:cNvSpPr/>
          <p:nvPr/>
        </p:nvSpPr>
        <p:spPr>
          <a:xfrm>
            <a:off x="0" y="6537960"/>
            <a:ext cx="12191695" cy="320040"/>
          </a:xfrm>
          <a:prstGeom prst="rect">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56248"/>
            <a:ext cx="9144000" cy="274320"/>
          </a:xfrm>
          <a:prstGeom prst="rect">
            <a:avLst/>
          </a:prstGeom>
          <a:noFill/>
        </p:spPr>
        <p:txBody>
          <a:bodyPr wrap="square" anchor="t" lIns="45720" rIns="45720" tIns="18288" bIns="18288">
            <a:spAutoFit/>
          </a:bodyPr>
          <a:lstStyle/>
          <a:p>
            <a:pPr algn="l"/>
            <a:r>
              <a:rPr sz="1100" b="0" i="0">
                <a:solidFill>
                  <a:srgbClr val="52514E"/>
                </a:solidFill>
                <a:latin typeface="Helvetica Neue"/>
              </a:rPr>
              <a:t>9th World One Health Congress · Lisbon 2026 · SCS23 LB · Abstract 2669</a:t>
            </a:r>
          </a:p>
        </p:txBody>
      </p:sp>
      <p:sp>
        <p:nvSpPr>
          <p:cNvPr id="7" name="TextBox 6"/>
          <p:cNvSpPr txBox="1"/>
          <p:nvPr/>
        </p:nvSpPr>
        <p:spPr>
          <a:xfrm>
            <a:off x="548640" y="1280160"/>
            <a:ext cx="6766560" cy="5120640"/>
          </a:xfrm>
          <a:prstGeom prst="rect">
            <a:avLst/>
          </a:prstGeom>
          <a:noFill/>
        </p:spPr>
        <p:txBody>
          <a:bodyPr wrap="square">
            <a:spAutoFit/>
          </a:bodyPr>
          <a:lstStyle/>
          <a:p>
            <a:pPr>
              <a:spcAft>
                <a:spcPts val="800"/>
              </a:spcAft>
            </a:pPr>
            <a:r>
              <a:rPr sz="1900" b="1">
                <a:solidFill>
                  <a:srgbClr val="2A78D6"/>
                </a:solidFill>
                <a:latin typeface="Helvetica Neue"/>
              </a:rPr>
              <a:t>•  </a:t>
            </a:r>
            <a:r>
              <a:rPr sz="1900" b="0">
                <a:solidFill>
                  <a:srgbClr val="1A1A1A"/>
                </a:solidFill>
                <a:latin typeface="Helvetica Neue"/>
              </a:rPr>
              <a:t>Each municipality is compared </a:t>
            </a:r>
            <a:r>
              <a:rPr sz="1900" b="1">
                <a:solidFill>
                  <a:srgbClr val="1A1A1A"/>
                </a:solidFill>
                <a:latin typeface="Helvetica Neue"/>
              </a:rPr>
              <a:t>with itself</a:t>
            </a:r>
            <a:r>
              <a:rPr sz="1900" b="0">
                <a:solidFill>
                  <a:srgbClr val="1A1A1A"/>
                </a:solidFill>
                <a:latin typeface="Helvetica Neue"/>
              </a:rPr>
              <a:t>: its incidence after the shock versus just before it (municipality fixed effects).</a:t>
            </a:r>
          </a:p>
          <a:p>
            <a:pPr>
              <a:spcAft>
                <a:spcPts val="800"/>
              </a:spcAft>
            </a:pPr>
            <a:r>
              <a:rPr sz="1900" b="1">
                <a:solidFill>
                  <a:srgbClr val="2A78D6"/>
                </a:solidFill>
                <a:latin typeface="Helvetica Neue"/>
              </a:rPr>
              <a:t>•  </a:t>
            </a:r>
            <a:r>
              <a:rPr sz="1900" b="0">
                <a:solidFill>
                  <a:srgbClr val="1A1A1A"/>
                </a:solidFill>
                <a:latin typeface="Helvetica Neue"/>
              </a:rPr>
              <a:t>That change is then set against the change, </a:t>
            </a:r>
            <a:r>
              <a:rPr sz="1900" b="1">
                <a:solidFill>
                  <a:srgbClr val="1A1A1A"/>
                </a:solidFill>
                <a:latin typeface="Helvetica Neue"/>
              </a:rPr>
              <a:t>over the same months</a:t>
            </a:r>
            <a:r>
              <a:rPr sz="1900" b="0">
                <a:solidFill>
                  <a:srgbClr val="1A1A1A"/>
                </a:solidFill>
                <a:latin typeface="Helvetica Neue"/>
              </a:rPr>
              <a:t>, in similar municipalities </a:t>
            </a:r>
            <a:r>
              <a:rPr sz="1900" b="1">
                <a:solidFill>
                  <a:srgbClr val="1A1A1A"/>
                </a:solidFill>
                <a:latin typeface="Helvetica Neue"/>
              </a:rPr>
              <a:t>not (yet) shocked</a:t>
            </a:r>
            <a:r>
              <a:rPr sz="1900" b="0">
                <a:solidFill>
                  <a:srgbClr val="1A1A1A"/>
                </a:solidFill>
                <a:latin typeface="Helvetica Neue"/>
              </a:rPr>
              <a:t> — same state, same climate zone — so seasonal and regional waves cancel out.</a:t>
            </a:r>
          </a:p>
          <a:p>
            <a:pPr>
              <a:spcAft>
                <a:spcPts val="800"/>
              </a:spcAft>
            </a:pPr>
            <a:r>
              <a:rPr sz="1900" b="1">
                <a:solidFill>
                  <a:srgbClr val="2A78D6"/>
                </a:solidFill>
                <a:latin typeface="Helvetica Neue"/>
              </a:rPr>
              <a:t>•  </a:t>
            </a:r>
            <a:r>
              <a:rPr sz="1900" b="0">
                <a:solidFill>
                  <a:srgbClr val="1A1A1A"/>
                </a:solidFill>
                <a:latin typeface="Helvetica Neue"/>
              </a:rPr>
              <a:t>We follow this double difference from the month before the shock up to 12 months after.</a:t>
            </a:r>
          </a:p>
          <a:p>
            <a:pPr>
              <a:spcAft>
                <a:spcPts val="800"/>
              </a:spcAft>
            </a:pPr>
            <a:r>
              <a:rPr sz="1900" b="1">
                <a:solidFill>
                  <a:srgbClr val="2A78D6"/>
                </a:solidFill>
                <a:latin typeface="Helvetica Neue"/>
              </a:rPr>
              <a:t>•  </a:t>
            </a:r>
            <a:r>
              <a:rPr sz="1900" b="0">
                <a:solidFill>
                  <a:srgbClr val="1A1A1A"/>
                </a:solidFill>
                <a:latin typeface="Helvetica Neue"/>
              </a:rPr>
              <a:t>Modern difference-in-differences, </a:t>
            </a:r>
            <a:r>
              <a:rPr sz="1900" b="1">
                <a:solidFill>
                  <a:srgbClr val="1A1A1A"/>
                </a:solidFill>
                <a:latin typeface="Helvetica Neue"/>
              </a:rPr>
              <a:t>robust to staggered and recurrent</a:t>
            </a:r>
            <a:r>
              <a:rPr sz="1900" b="0">
                <a:solidFill>
                  <a:srgbClr val="1A1A1A"/>
                </a:solidFill>
                <a:latin typeface="Helvetica Neue"/>
              </a:rPr>
              <a:t> shocks (de Chaisemartin &amp; D'Haultfœuille).</a:t>
            </a:r>
          </a:p>
          <a:p>
            <a:pPr>
              <a:spcAft>
                <a:spcPts val="800"/>
              </a:spcAft>
            </a:pPr>
            <a:r>
              <a:rPr sz="1900" b="1">
                <a:solidFill>
                  <a:srgbClr val="2A78D6"/>
                </a:solidFill>
                <a:latin typeface="Helvetica Neue"/>
              </a:rPr>
              <a:t>•  </a:t>
            </a:r>
            <a:r>
              <a:rPr sz="1900" b="0">
                <a:solidFill>
                  <a:srgbClr val="1A1A1A"/>
                </a:solidFill>
                <a:latin typeface="Helvetica Neue"/>
              </a:rPr>
              <a:t>Six pre-shock </a:t>
            </a:r>
            <a:r>
              <a:rPr sz="1900" b="1">
                <a:solidFill>
                  <a:srgbClr val="1A1A1A"/>
                </a:solidFill>
                <a:latin typeface="Helvetica Neue"/>
              </a:rPr>
              <a:t>placebo months</a:t>
            </a:r>
            <a:r>
              <a:rPr sz="1900" b="0">
                <a:solidFill>
                  <a:srgbClr val="1A1A1A"/>
                </a:solidFill>
                <a:latin typeface="Helvetica Neue"/>
              </a:rPr>
              <a:t> test whether the two groups were already diverging before the shock.</a:t>
            </a:r>
          </a:p>
        </p:txBody>
      </p:sp>
      <p:sp>
        <p:nvSpPr>
          <p:cNvPr id="8" name="Rectangle 7"/>
          <p:cNvSpPr/>
          <p:nvPr/>
        </p:nvSpPr>
        <p:spPr>
          <a:xfrm>
            <a:off x="7589520" y="1371600"/>
            <a:ext cx="4114800" cy="4846320"/>
          </a:xfrm>
          <a:prstGeom prst="rect">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20" y="1554480"/>
            <a:ext cx="3657600" cy="457200"/>
          </a:xfrm>
          <a:prstGeom prst="rect">
            <a:avLst/>
          </a:prstGeom>
          <a:noFill/>
        </p:spPr>
        <p:txBody>
          <a:bodyPr wrap="square" anchor="t" lIns="45720" rIns="45720" tIns="18288" bIns="18288">
            <a:spAutoFit/>
          </a:bodyPr>
          <a:lstStyle/>
          <a:p>
            <a:pPr algn="l"/>
            <a:r>
              <a:rPr sz="1800" b="1" i="0">
                <a:solidFill>
                  <a:srgbClr val="143A66"/>
                </a:solidFill>
                <a:latin typeface="Helvetica Neue"/>
              </a:rPr>
              <a:t>Why we call it causal</a:t>
            </a:r>
          </a:p>
        </p:txBody>
      </p:sp>
      <p:sp>
        <p:nvSpPr>
          <p:cNvPr id="10" name="TextBox 9"/>
          <p:cNvSpPr txBox="1"/>
          <p:nvPr/>
        </p:nvSpPr>
        <p:spPr>
          <a:xfrm>
            <a:off x="7818120" y="2057400"/>
            <a:ext cx="3657600" cy="2743200"/>
          </a:xfrm>
          <a:prstGeom prst="rect">
            <a:avLst/>
          </a:prstGeom>
          <a:noFill/>
        </p:spPr>
        <p:txBody>
          <a:bodyPr wrap="square" anchor="t" lIns="45720" rIns="45720" tIns="18288" bIns="18288">
            <a:spAutoFit/>
          </a:bodyPr>
          <a:lstStyle/>
          <a:p>
            <a:pPr algn="l"/>
            <a:r>
              <a:rPr sz="1700" b="0" i="0">
                <a:solidFill>
                  <a:srgbClr val="1A1A1A"/>
                </a:solidFill>
                <a:latin typeface="Helvetica Neue"/>
              </a:rPr>
              <a:t>By causal I mean the </a:t>
            </a:r>
            <a:r>
              <a:rPr sz="1700" b="1" i="0">
                <a:solidFill>
                  <a:srgbClr val="1A1A1A"/>
                </a:solidFill>
                <a:latin typeface="Helvetica Neue"/>
              </a:rPr>
              <a:t>design</a:t>
            </a:r>
            <a:r>
              <a:rPr sz="1700" b="0" i="0">
                <a:solidFill>
                  <a:srgbClr val="1A1A1A"/>
                </a:solidFill>
                <a:latin typeface="Helvetica Neue"/>
              </a:rPr>
              <a:t>, not the biology: exogenous, datable shocks; each municipality as its own control; flat pre-trends; negative-control exposures (heat alone, drought alone); a permutation test.</a:t>
            </a:r>
          </a:p>
        </p:txBody>
      </p:sp>
      <p:sp>
        <p:nvSpPr>
          <p:cNvPr id="11" name="TextBox 10"/>
          <p:cNvSpPr txBox="1"/>
          <p:nvPr/>
        </p:nvSpPr>
        <p:spPr>
          <a:xfrm>
            <a:off x="7818120" y="4892040"/>
            <a:ext cx="3657600" cy="1188720"/>
          </a:xfrm>
          <a:prstGeom prst="rect">
            <a:avLst/>
          </a:prstGeom>
          <a:noFill/>
        </p:spPr>
        <p:txBody>
          <a:bodyPr wrap="square" anchor="t" lIns="45720" rIns="45720" tIns="18288" bIns="18288">
            <a:spAutoFit/>
          </a:bodyPr>
          <a:lstStyle/>
          <a:p>
            <a:pPr algn="l"/>
            <a:r>
              <a:rPr sz="1700" b="1" i="1">
                <a:solidFill>
                  <a:srgbClr val="143A66"/>
                </a:solidFill>
                <a:latin typeface="Helvetica Neue"/>
              </a:rPr>
              <a:t>It is the closest you get to a trial when the exposure is the weather.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332720" cy="731520"/>
          </a:xfrm>
          <a:prstGeom prst="rect">
            <a:avLst/>
          </a:prstGeom>
          <a:noFill/>
        </p:spPr>
        <p:txBody>
          <a:bodyPr wrap="square" anchor="ctr" lIns="45720" rIns="45720" tIns="18288" bIns="18288">
            <a:spAutoFit/>
          </a:bodyPr>
          <a:lstStyle/>
          <a:p>
            <a:pPr algn="l"/>
            <a:r>
              <a:rPr sz="2700" b="1" i="0">
                <a:solidFill>
                  <a:srgbClr val="FFFFFF"/>
                </a:solidFill>
                <a:latin typeface="Helvetica Neue"/>
              </a:rPr>
              <a:t>The estimator: one picture, three equations</a:t>
            </a:r>
          </a:p>
        </p:txBody>
      </p:sp>
      <p:sp>
        <p:nvSpPr>
          <p:cNvPr id="4" name="TextBox 3"/>
          <p:cNvSpPr txBox="1"/>
          <p:nvPr/>
        </p:nvSpPr>
        <p:spPr>
          <a:xfrm>
            <a:off x="11094415" y="320040"/>
            <a:ext cx="731520" cy="365760"/>
          </a:xfrm>
          <a:prstGeom prst="rect">
            <a:avLst/>
          </a:prstGeom>
          <a:noFill/>
        </p:spPr>
        <p:txBody>
          <a:bodyPr wrap="square" anchor="t" lIns="45720" rIns="45720" tIns="18288" bIns="18288">
            <a:spAutoFit/>
          </a:bodyPr>
          <a:lstStyle/>
          <a:p>
            <a:pPr algn="r"/>
            <a:r>
              <a:rPr sz="1400" b="0" i="0">
                <a:solidFill>
                  <a:srgbClr val="B0C4DE"/>
                </a:solidFill>
                <a:latin typeface="Helvetica Neue"/>
              </a:rPr>
              <a:t>6</a:t>
            </a:r>
          </a:p>
        </p:txBody>
      </p:sp>
      <p:sp>
        <p:nvSpPr>
          <p:cNvPr id="5" name="Rectangle 4"/>
          <p:cNvSpPr/>
          <p:nvPr/>
        </p:nvSpPr>
        <p:spPr>
          <a:xfrm>
            <a:off x="0" y="6537960"/>
            <a:ext cx="12191695" cy="320040"/>
          </a:xfrm>
          <a:prstGeom prst="rect">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56248"/>
            <a:ext cx="9144000" cy="274320"/>
          </a:xfrm>
          <a:prstGeom prst="rect">
            <a:avLst/>
          </a:prstGeom>
          <a:noFill/>
        </p:spPr>
        <p:txBody>
          <a:bodyPr wrap="square" anchor="t" lIns="45720" rIns="45720" tIns="18288" bIns="18288">
            <a:spAutoFit/>
          </a:bodyPr>
          <a:lstStyle/>
          <a:p>
            <a:pPr algn="l"/>
            <a:r>
              <a:rPr sz="1100" b="0" i="0">
                <a:solidFill>
                  <a:srgbClr val="52514E"/>
                </a:solidFill>
                <a:latin typeface="Helvetica Neue"/>
              </a:rPr>
              <a:t>9th World One Health Congress · Lisbon 2026 · SCS23 LB · Abstract 2669</a:t>
            </a:r>
          </a:p>
        </p:txBody>
      </p:sp>
      <p:pic>
        <p:nvPicPr>
          <p:cNvPr id="7" name="Picture 6" descr="did_schematic.png"/>
          <p:cNvPicPr>
            <a:picLocks noChangeAspect="1"/>
          </p:cNvPicPr>
          <p:nvPr/>
        </p:nvPicPr>
        <p:blipFill>
          <a:blip r:embed="rId2"/>
          <a:stretch>
            <a:fillRect/>
          </a:stretch>
        </p:blipFill>
        <p:spPr>
          <a:xfrm>
            <a:off x="320040" y="1097280"/>
            <a:ext cx="5943600" cy="3907133"/>
          </a:xfrm>
          <a:prstGeom prst="rect">
            <a:avLst/>
          </a:prstGeom>
        </p:spPr>
      </p:pic>
      <p:sp>
        <p:nvSpPr>
          <p:cNvPr id="8" name="TextBox 7"/>
          <p:cNvSpPr txBox="1"/>
          <p:nvPr/>
        </p:nvSpPr>
        <p:spPr>
          <a:xfrm>
            <a:off x="6492240" y="1097280"/>
            <a:ext cx="5394960" cy="365760"/>
          </a:xfrm>
          <a:prstGeom prst="rect">
            <a:avLst/>
          </a:prstGeom>
          <a:noFill/>
        </p:spPr>
        <p:txBody>
          <a:bodyPr wrap="square" anchor="t" lIns="45720" rIns="45720" tIns="18288" bIns="18288">
            <a:spAutoFit/>
          </a:bodyPr>
          <a:lstStyle/>
          <a:p>
            <a:pPr algn="l"/>
            <a:r>
              <a:rPr sz="1400" b="1" i="0">
                <a:solidFill>
                  <a:srgbClr val="143A66"/>
                </a:solidFill>
                <a:latin typeface="Helvetica Neue"/>
              </a:rPr>
              <a:t>Shock and treatment state (lagged one month)</a:t>
            </a:r>
          </a:p>
        </p:txBody>
      </p:sp>
      <p:pic>
        <p:nvPicPr>
          <p:cNvPr id="9" name="Picture 8" descr="eq_treat.png"/>
          <p:cNvPicPr>
            <a:picLocks noChangeAspect="1"/>
          </p:cNvPicPr>
          <p:nvPr/>
        </p:nvPicPr>
        <p:blipFill>
          <a:blip r:embed="rId3"/>
          <a:stretch>
            <a:fillRect/>
          </a:stretch>
        </p:blipFill>
        <p:spPr>
          <a:xfrm>
            <a:off x="6537960" y="1481328"/>
            <a:ext cx="5011988" cy="384048"/>
          </a:xfrm>
          <a:prstGeom prst="rect">
            <a:avLst/>
          </a:prstGeom>
        </p:spPr>
      </p:pic>
      <p:sp>
        <p:nvSpPr>
          <p:cNvPr id="10" name="TextBox 9"/>
          <p:cNvSpPr txBox="1"/>
          <p:nvPr/>
        </p:nvSpPr>
        <p:spPr>
          <a:xfrm>
            <a:off x="6492240" y="2148840"/>
            <a:ext cx="5394960" cy="365760"/>
          </a:xfrm>
          <a:prstGeom prst="rect">
            <a:avLst/>
          </a:prstGeom>
          <a:noFill/>
        </p:spPr>
        <p:txBody>
          <a:bodyPr wrap="square" anchor="t" lIns="45720" rIns="45720" tIns="18288" bIns="18288">
            <a:spAutoFit/>
          </a:bodyPr>
          <a:lstStyle/>
          <a:p>
            <a:pPr algn="l"/>
            <a:r>
              <a:rPr sz="1400" b="1" i="0">
                <a:solidFill>
                  <a:srgbClr val="143A66"/>
                </a:solidFill>
                <a:latin typeface="Helvetica Neue"/>
              </a:rPr>
              <a:t>Dynamic effect at horizon ℓ: a difference in differences</a:t>
            </a:r>
          </a:p>
        </p:txBody>
      </p:sp>
      <p:pic>
        <p:nvPicPr>
          <p:cNvPr id="11" name="Picture 10" descr="eq_did.png"/>
          <p:cNvPicPr>
            <a:picLocks noChangeAspect="1"/>
          </p:cNvPicPr>
          <p:nvPr/>
        </p:nvPicPr>
        <p:blipFill>
          <a:blip r:embed="rId4"/>
          <a:stretch>
            <a:fillRect/>
          </a:stretch>
        </p:blipFill>
        <p:spPr>
          <a:xfrm>
            <a:off x="6537960" y="2542032"/>
            <a:ext cx="5120640" cy="515046"/>
          </a:xfrm>
          <a:prstGeom prst="rect">
            <a:avLst/>
          </a:prstGeom>
        </p:spPr>
      </p:pic>
      <p:sp>
        <p:nvSpPr>
          <p:cNvPr id="12" name="TextBox 11"/>
          <p:cNvSpPr txBox="1"/>
          <p:nvPr/>
        </p:nvSpPr>
        <p:spPr>
          <a:xfrm>
            <a:off x="6492240" y="3291840"/>
            <a:ext cx="5394960" cy="365760"/>
          </a:xfrm>
          <a:prstGeom prst="rect">
            <a:avLst/>
          </a:prstGeom>
          <a:noFill/>
        </p:spPr>
        <p:txBody>
          <a:bodyPr wrap="square" anchor="t" lIns="45720" rIns="45720" tIns="18288" bIns="18288">
            <a:spAutoFit/>
          </a:bodyPr>
          <a:lstStyle/>
          <a:p>
            <a:pPr algn="l"/>
            <a:r>
              <a:rPr sz="1400" b="1" i="0">
                <a:solidFill>
                  <a:srgbClr val="143A66"/>
                </a:solidFill>
                <a:latin typeface="Helvetica Neue"/>
              </a:rPr>
              <a:t>Total effect over 12 months (dCDH 2024 weights)</a:t>
            </a:r>
          </a:p>
        </p:txBody>
      </p:sp>
      <p:pic>
        <p:nvPicPr>
          <p:cNvPr id="13" name="Picture 12" descr="eq_theta.png"/>
          <p:cNvPicPr>
            <a:picLocks noChangeAspect="1"/>
          </p:cNvPicPr>
          <p:nvPr/>
        </p:nvPicPr>
        <p:blipFill>
          <a:blip r:embed="rId5"/>
          <a:stretch>
            <a:fillRect/>
          </a:stretch>
        </p:blipFill>
        <p:spPr>
          <a:xfrm>
            <a:off x="6537960" y="3685032"/>
            <a:ext cx="4091940" cy="822960"/>
          </a:xfrm>
          <a:prstGeom prst="rect">
            <a:avLst/>
          </a:prstGeom>
        </p:spPr>
      </p:pic>
      <p:sp>
        <p:nvSpPr>
          <p:cNvPr id="14" name="TextBox 13"/>
          <p:cNvSpPr txBox="1"/>
          <p:nvPr/>
        </p:nvSpPr>
        <p:spPr>
          <a:xfrm>
            <a:off x="6492240" y="4526280"/>
            <a:ext cx="5394960" cy="365760"/>
          </a:xfrm>
          <a:prstGeom prst="rect">
            <a:avLst/>
          </a:prstGeom>
          <a:noFill/>
        </p:spPr>
        <p:txBody>
          <a:bodyPr wrap="square" anchor="t" lIns="45720" rIns="45720" tIns="18288" bIns="18288">
            <a:spAutoFit/>
          </a:bodyPr>
          <a:lstStyle/>
          <a:p>
            <a:pPr algn="l"/>
            <a:r>
              <a:rPr sz="1400" b="1" i="0">
                <a:solidFill>
                  <a:srgbClr val="143A66"/>
                </a:solidFill>
                <a:latin typeface="Helvetica Neue"/>
              </a:rPr>
              <a:t>Identifying assumption: parallel trends in the no-shock state</a:t>
            </a:r>
          </a:p>
        </p:txBody>
      </p:sp>
      <p:pic>
        <p:nvPicPr>
          <p:cNvPr id="15" name="Picture 14" descr="eq_pt.png"/>
          <p:cNvPicPr>
            <a:picLocks noChangeAspect="1"/>
          </p:cNvPicPr>
          <p:nvPr/>
        </p:nvPicPr>
        <p:blipFill>
          <a:blip r:embed="rId6"/>
          <a:stretch>
            <a:fillRect/>
          </a:stretch>
        </p:blipFill>
        <p:spPr>
          <a:xfrm>
            <a:off x="6537960" y="4919472"/>
            <a:ext cx="5303520" cy="344044"/>
          </a:xfrm>
          <a:prstGeom prst="rect">
            <a:avLst/>
          </a:prstGeom>
        </p:spPr>
      </p:pic>
      <p:sp>
        <p:nvSpPr>
          <p:cNvPr id="16" name="TextBox 15"/>
          <p:cNvSpPr txBox="1"/>
          <p:nvPr/>
        </p:nvSpPr>
        <p:spPr>
          <a:xfrm>
            <a:off x="6492240" y="5486400"/>
            <a:ext cx="5394960" cy="960120"/>
          </a:xfrm>
          <a:prstGeom prst="rect">
            <a:avLst/>
          </a:prstGeom>
          <a:noFill/>
        </p:spPr>
        <p:txBody>
          <a:bodyPr wrap="square" anchor="t" lIns="45720" rIns="45720" tIns="18288" bIns="18288">
            <a:spAutoFit/>
          </a:bodyPr>
          <a:lstStyle/>
          <a:p>
            <a:pPr algn="l"/>
            <a:r>
              <a:rPr sz="1150" b="0" i="0">
                <a:solidFill>
                  <a:srgbClr val="52514E"/>
                </a:solidFill>
                <a:latin typeface="Helvetica Neue"/>
              </a:rPr>
              <a:t>Y = ln(1 + notified incidence per 100,000). S = switchers entering the shock at t; C = not-yet-shocked municipalities with the same initial state, within the same state × Köppen cell. Trends by state × Köppen; SE clustered by municipality; six pre-shock placebos.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332720" cy="731520"/>
          </a:xfrm>
          <a:prstGeom prst="rect">
            <a:avLst/>
          </a:prstGeom>
          <a:noFill/>
        </p:spPr>
        <p:txBody>
          <a:bodyPr wrap="square" anchor="ctr" lIns="45720" rIns="45720" tIns="18288" bIns="18288">
            <a:spAutoFit/>
          </a:bodyPr>
          <a:lstStyle/>
          <a:p>
            <a:pPr algn="l"/>
            <a:r>
              <a:rPr sz="2700" b="1" i="0">
                <a:solidFill>
                  <a:srgbClr val="FFFFFF"/>
                </a:solidFill>
                <a:latin typeface="Helvetica Neue"/>
              </a:rPr>
              <a:t>Compound shocks raise notified incidence — with a lag</a:t>
            </a:r>
          </a:p>
        </p:txBody>
      </p:sp>
      <p:sp>
        <p:nvSpPr>
          <p:cNvPr id="4" name="TextBox 3"/>
          <p:cNvSpPr txBox="1"/>
          <p:nvPr/>
        </p:nvSpPr>
        <p:spPr>
          <a:xfrm>
            <a:off x="11094415" y="320040"/>
            <a:ext cx="731520" cy="365760"/>
          </a:xfrm>
          <a:prstGeom prst="rect">
            <a:avLst/>
          </a:prstGeom>
          <a:noFill/>
        </p:spPr>
        <p:txBody>
          <a:bodyPr wrap="square" anchor="t" lIns="45720" rIns="45720" tIns="18288" bIns="18288">
            <a:spAutoFit/>
          </a:bodyPr>
          <a:lstStyle/>
          <a:p>
            <a:pPr algn="r"/>
            <a:r>
              <a:rPr sz="1400" b="0" i="0">
                <a:solidFill>
                  <a:srgbClr val="B0C4DE"/>
                </a:solidFill>
                <a:latin typeface="Helvetica Neue"/>
              </a:rPr>
              <a:t>7</a:t>
            </a:r>
          </a:p>
        </p:txBody>
      </p:sp>
      <p:sp>
        <p:nvSpPr>
          <p:cNvPr id="5" name="Rectangle 4"/>
          <p:cNvSpPr/>
          <p:nvPr/>
        </p:nvSpPr>
        <p:spPr>
          <a:xfrm>
            <a:off x="0" y="6537960"/>
            <a:ext cx="12191695" cy="320040"/>
          </a:xfrm>
          <a:prstGeom prst="rect">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56248"/>
            <a:ext cx="9144000" cy="274320"/>
          </a:xfrm>
          <a:prstGeom prst="rect">
            <a:avLst/>
          </a:prstGeom>
          <a:noFill/>
        </p:spPr>
        <p:txBody>
          <a:bodyPr wrap="square" anchor="t" lIns="45720" rIns="45720" tIns="18288" bIns="18288">
            <a:spAutoFit/>
          </a:bodyPr>
          <a:lstStyle/>
          <a:p>
            <a:pPr algn="l"/>
            <a:r>
              <a:rPr sz="1100" b="0" i="0">
                <a:solidFill>
                  <a:srgbClr val="52514E"/>
                </a:solidFill>
                <a:latin typeface="Helvetica Neue"/>
              </a:rPr>
              <a:t>9th World One Health Congress · Lisbon 2026 · SCS23 LB · Abstract 2669</a:t>
            </a:r>
          </a:p>
        </p:txBody>
      </p:sp>
      <p:pic>
        <p:nvPicPr>
          <p:cNvPr id="7" name="Picture 6" descr="es_compound.png"/>
          <p:cNvPicPr>
            <a:picLocks noChangeAspect="1"/>
          </p:cNvPicPr>
          <p:nvPr/>
        </p:nvPicPr>
        <p:blipFill>
          <a:blip r:embed="rId2"/>
          <a:stretch>
            <a:fillRect/>
          </a:stretch>
        </p:blipFill>
        <p:spPr>
          <a:xfrm>
            <a:off x="457200" y="1143000"/>
            <a:ext cx="7863840" cy="3992411"/>
          </a:xfrm>
          <a:prstGeom prst="rect">
            <a:avLst/>
          </a:prstGeom>
        </p:spPr>
      </p:pic>
      <p:sp>
        <p:nvSpPr>
          <p:cNvPr id="8" name="Rectangle 7"/>
          <p:cNvSpPr/>
          <p:nvPr/>
        </p:nvSpPr>
        <p:spPr>
          <a:xfrm>
            <a:off x="8503920" y="1280160"/>
            <a:ext cx="3291840" cy="4846320"/>
          </a:xfrm>
          <a:prstGeom prst="rect">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0" y="1417320"/>
            <a:ext cx="2926080" cy="457200"/>
          </a:xfrm>
          <a:prstGeom prst="rect">
            <a:avLst/>
          </a:prstGeom>
          <a:noFill/>
        </p:spPr>
        <p:txBody>
          <a:bodyPr wrap="square" anchor="t" lIns="45720" rIns="45720" tIns="18288" bIns="18288">
            <a:spAutoFit/>
          </a:bodyPr>
          <a:lstStyle/>
          <a:p>
            <a:pPr algn="l"/>
            <a:r>
              <a:rPr sz="1500" b="1" i="0">
                <a:solidFill>
                  <a:srgbClr val="143A66"/>
                </a:solidFill>
                <a:latin typeface="Helvetica Neue"/>
              </a:rPr>
              <a:t>Total effect over 12 months</a:t>
            </a:r>
          </a:p>
        </p:txBody>
      </p:sp>
      <p:sp>
        <p:nvSpPr>
          <p:cNvPr id="10" name="TextBox 9"/>
          <p:cNvSpPr txBox="1"/>
          <p:nvPr/>
        </p:nvSpPr>
        <p:spPr>
          <a:xfrm>
            <a:off x="8686800" y="1874519"/>
            <a:ext cx="2926080" cy="822960"/>
          </a:xfrm>
          <a:prstGeom prst="rect">
            <a:avLst/>
          </a:prstGeom>
          <a:noFill/>
        </p:spPr>
        <p:txBody>
          <a:bodyPr wrap="square" anchor="t" lIns="45720" rIns="45720" tIns="18288" bIns="18288">
            <a:spAutoFit/>
          </a:bodyPr>
          <a:lstStyle/>
          <a:p>
            <a:pPr algn="l"/>
            <a:r>
              <a:rPr sz="4400" b="1" i="0">
                <a:solidFill>
                  <a:srgbClr val="143A66"/>
                </a:solidFill>
                <a:latin typeface="Helvetica Neue"/>
              </a:rPr>
              <a:t>+1.32</a:t>
            </a:r>
          </a:p>
        </p:txBody>
      </p:sp>
      <p:sp>
        <p:nvSpPr>
          <p:cNvPr id="11" name="TextBox 10"/>
          <p:cNvSpPr txBox="1"/>
          <p:nvPr/>
        </p:nvSpPr>
        <p:spPr>
          <a:xfrm>
            <a:off x="8686800" y="2743200"/>
            <a:ext cx="2926080" cy="457200"/>
          </a:xfrm>
          <a:prstGeom prst="rect">
            <a:avLst/>
          </a:prstGeom>
          <a:noFill/>
        </p:spPr>
        <p:txBody>
          <a:bodyPr wrap="square" anchor="t" lIns="45720" rIns="45720" tIns="18288" bIns="18288">
            <a:spAutoFit/>
          </a:bodyPr>
          <a:lstStyle/>
          <a:p>
            <a:pPr algn="l"/>
            <a:r>
              <a:rPr sz="1400" b="0" i="0">
                <a:solidFill>
                  <a:srgbClr val="52514E"/>
                </a:solidFill>
                <a:latin typeface="Helvetica Neue"/>
              </a:rPr>
              <a:t>95% CI 0.16 – 2.49 (log points)</a:t>
            </a:r>
          </a:p>
        </p:txBody>
      </p:sp>
      <p:sp>
        <p:nvSpPr>
          <p:cNvPr id="12" name="TextBox 11"/>
          <p:cNvSpPr txBox="1"/>
          <p:nvPr/>
        </p:nvSpPr>
        <p:spPr>
          <a:xfrm>
            <a:off x="8641080" y="3291840"/>
            <a:ext cx="3063240" cy="2743200"/>
          </a:xfrm>
          <a:prstGeom prst="rect">
            <a:avLst/>
          </a:prstGeom>
          <a:noFill/>
        </p:spPr>
        <p:txBody>
          <a:bodyPr wrap="square">
            <a:spAutoFit/>
          </a:bodyPr>
          <a:lstStyle/>
          <a:p>
            <a:pPr>
              <a:spcAft>
                <a:spcPts val="500"/>
              </a:spcAft>
            </a:pPr>
            <a:r>
              <a:rPr sz="1500" b="1">
                <a:solidFill>
                  <a:srgbClr val="2A78D6"/>
                </a:solidFill>
                <a:latin typeface="Helvetica Neue"/>
              </a:rPr>
              <a:t>•  </a:t>
            </a:r>
            <a:r>
              <a:rPr sz="1500" b="1">
                <a:solidFill>
                  <a:srgbClr val="1A1A1A"/>
                </a:solidFill>
                <a:latin typeface="Helvetica Neue"/>
              </a:rPr>
              <a:t>No pre-trend:</a:t>
            </a:r>
            <a:r>
              <a:rPr sz="1500" b="0">
                <a:solidFill>
                  <a:srgbClr val="1A1A1A"/>
                </a:solidFill>
                <a:latin typeface="Helvetica Neue"/>
              </a:rPr>
              <a:t> the six placebo months are jointly indistinguishable from zero</a:t>
            </a:r>
          </a:p>
          <a:p>
            <a:pPr>
              <a:spcAft>
                <a:spcPts val="500"/>
              </a:spcAft>
            </a:pPr>
            <a:r>
              <a:rPr sz="1500" b="1">
                <a:solidFill>
                  <a:srgbClr val="2A78D6"/>
                </a:solidFill>
                <a:latin typeface="Helvetica Neue"/>
              </a:rPr>
              <a:t>•  </a:t>
            </a:r>
            <a:r>
              <a:rPr sz="1500" b="1">
                <a:solidFill>
                  <a:srgbClr val="1A1A1A"/>
                </a:solidFill>
                <a:latin typeface="Helvetica Neue"/>
              </a:rPr>
              <a:t>Lagged:</a:t>
            </a:r>
            <a:r>
              <a:rPr sz="1500" b="0">
                <a:solidFill>
                  <a:srgbClr val="1A1A1A"/>
                </a:solidFill>
                <a:latin typeface="Helvetica Neue"/>
              </a:rPr>
              <a:t> builds over months, peaks around the </a:t>
            </a:r>
            <a:r>
              <a:rPr sz="1500" b="1">
                <a:solidFill>
                  <a:srgbClr val="1A1A1A"/>
                </a:solidFill>
                <a:latin typeface="Helvetica Neue"/>
              </a:rPr>
              <a:t>5th month</a:t>
            </a:r>
          </a:p>
          <a:p>
            <a:pPr>
              <a:spcAft>
                <a:spcPts val="500"/>
              </a:spcAft>
            </a:pPr>
            <a:r>
              <a:rPr sz="1500" b="1">
                <a:solidFill>
                  <a:srgbClr val="2A78D6"/>
                </a:solidFill>
                <a:latin typeface="Helvetica Neue"/>
              </a:rPr>
              <a:t>•  </a:t>
            </a:r>
            <a:r>
              <a:rPr sz="1500" b="1">
                <a:solidFill>
                  <a:srgbClr val="1A1A1A"/>
                </a:solidFill>
                <a:latin typeface="Helvetica Neue"/>
              </a:rPr>
              <a:t>Transitory:</a:t>
            </a:r>
            <a:r>
              <a:rPr sz="1500" b="0">
                <a:solidFill>
                  <a:srgbClr val="1A1A1A"/>
                </a:solidFill>
                <a:latin typeface="Helvetica Neue"/>
              </a:rPr>
              <a:t> dissipates within a year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332720" cy="731520"/>
          </a:xfrm>
          <a:prstGeom prst="rect">
            <a:avLst/>
          </a:prstGeom>
          <a:noFill/>
        </p:spPr>
        <p:txBody>
          <a:bodyPr wrap="square" anchor="ctr" lIns="45720" rIns="45720" tIns="18288" bIns="18288">
            <a:spAutoFit/>
          </a:bodyPr>
          <a:lstStyle/>
          <a:p>
            <a:pPr algn="l"/>
            <a:r>
              <a:rPr sz="2700" b="1" i="0">
                <a:solidFill>
                  <a:srgbClr val="FFFFFF"/>
                </a:solidFill>
                <a:latin typeface="Helvetica Neue"/>
              </a:rPr>
              <a:t>Only the compound moves incidence</a:t>
            </a:r>
          </a:p>
        </p:txBody>
      </p:sp>
      <p:sp>
        <p:nvSpPr>
          <p:cNvPr id="4" name="TextBox 3"/>
          <p:cNvSpPr txBox="1"/>
          <p:nvPr/>
        </p:nvSpPr>
        <p:spPr>
          <a:xfrm>
            <a:off x="11094415" y="320040"/>
            <a:ext cx="731520" cy="365760"/>
          </a:xfrm>
          <a:prstGeom prst="rect">
            <a:avLst/>
          </a:prstGeom>
          <a:noFill/>
        </p:spPr>
        <p:txBody>
          <a:bodyPr wrap="square" anchor="t" lIns="45720" rIns="45720" tIns="18288" bIns="18288">
            <a:spAutoFit/>
          </a:bodyPr>
          <a:lstStyle/>
          <a:p>
            <a:pPr algn="r"/>
            <a:r>
              <a:rPr sz="1400" b="0" i="0">
                <a:solidFill>
                  <a:srgbClr val="B0C4DE"/>
                </a:solidFill>
                <a:latin typeface="Helvetica Neue"/>
              </a:rPr>
              <a:t>8</a:t>
            </a:r>
          </a:p>
        </p:txBody>
      </p:sp>
      <p:sp>
        <p:nvSpPr>
          <p:cNvPr id="5" name="Rectangle 4"/>
          <p:cNvSpPr/>
          <p:nvPr/>
        </p:nvSpPr>
        <p:spPr>
          <a:xfrm>
            <a:off x="0" y="6537960"/>
            <a:ext cx="12191695" cy="320040"/>
          </a:xfrm>
          <a:prstGeom prst="rect">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56248"/>
            <a:ext cx="9144000" cy="274320"/>
          </a:xfrm>
          <a:prstGeom prst="rect">
            <a:avLst/>
          </a:prstGeom>
          <a:noFill/>
        </p:spPr>
        <p:txBody>
          <a:bodyPr wrap="square" anchor="t" lIns="45720" rIns="45720" tIns="18288" bIns="18288">
            <a:spAutoFit/>
          </a:bodyPr>
          <a:lstStyle/>
          <a:p>
            <a:pPr algn="l"/>
            <a:r>
              <a:rPr sz="1100" b="0" i="0">
                <a:solidFill>
                  <a:srgbClr val="52514E"/>
                </a:solidFill>
                <a:latin typeface="Helvetica Neue"/>
              </a:rPr>
              <a:t>9th World One Health Congress · Lisbon 2026 · SCS23 LB · Abstract 2669</a:t>
            </a:r>
          </a:p>
        </p:txBody>
      </p:sp>
      <p:pic>
        <p:nvPicPr>
          <p:cNvPr id="7" name="Picture 6" descr="es_components.png"/>
          <p:cNvPicPr>
            <a:picLocks noChangeAspect="1"/>
          </p:cNvPicPr>
          <p:nvPr/>
        </p:nvPicPr>
        <p:blipFill>
          <a:blip r:embed="rId2"/>
          <a:stretch>
            <a:fillRect/>
          </a:stretch>
        </p:blipFill>
        <p:spPr>
          <a:xfrm>
            <a:off x="502920" y="1097280"/>
            <a:ext cx="11155680" cy="4611014"/>
          </a:xfrm>
          <a:prstGeom prst="rect">
            <a:avLst/>
          </a:prstGeom>
        </p:spPr>
      </p:pic>
      <p:sp>
        <p:nvSpPr>
          <p:cNvPr id="8" name="TextBox 7"/>
          <p:cNvSpPr txBox="1"/>
          <p:nvPr/>
        </p:nvSpPr>
        <p:spPr>
          <a:xfrm>
            <a:off x="548640" y="5806440"/>
            <a:ext cx="11155680" cy="685800"/>
          </a:xfrm>
          <a:prstGeom prst="rect">
            <a:avLst/>
          </a:prstGeom>
          <a:noFill/>
        </p:spPr>
        <p:txBody>
          <a:bodyPr wrap="square" anchor="t" lIns="45720" rIns="45720" tIns="18288" bIns="18288">
            <a:spAutoFit/>
          </a:bodyPr>
          <a:lstStyle/>
          <a:p>
            <a:pPr algn="l"/>
            <a:r>
              <a:rPr sz="1800" b="0" i="0">
                <a:solidFill>
                  <a:srgbClr val="1A1A1A"/>
                </a:solidFill>
                <a:latin typeface="Helvetica Neue"/>
              </a:rPr>
              <a:t>Extreme heat alone and drought alone produce no discernible effect — </a:t>
            </a:r>
            <a:r>
              <a:rPr sz="1800" b="1" i="0">
                <a:solidFill>
                  <a:srgbClr val="1A1A1A"/>
                </a:solidFill>
                <a:latin typeface="Helvetica Neue"/>
              </a:rPr>
              <a:t>despite being far more frequent and better powered</a:t>
            </a:r>
            <a:r>
              <a:rPr sz="1800" b="0" i="0">
                <a:solidFill>
                  <a:srgbClr val="1A1A1A"/>
                </a:solidFill>
                <a:latin typeface="Helvetica Neue"/>
              </a:rPr>
              <a:t> than the compound.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332720" cy="731520"/>
          </a:xfrm>
          <a:prstGeom prst="rect">
            <a:avLst/>
          </a:prstGeom>
          <a:noFill/>
        </p:spPr>
        <p:txBody>
          <a:bodyPr wrap="square" anchor="ctr" lIns="45720" rIns="45720" tIns="18288" bIns="18288">
            <a:spAutoFit/>
          </a:bodyPr>
          <a:lstStyle/>
          <a:p>
            <a:pPr algn="l"/>
            <a:r>
              <a:rPr sz="2700" b="1" i="0">
                <a:solidFill>
                  <a:srgbClr val="FFFFFF"/>
                </a:solidFill>
                <a:latin typeface="Helvetica Neue"/>
              </a:rPr>
              <a:t>Where and how</a:t>
            </a:r>
          </a:p>
        </p:txBody>
      </p:sp>
      <p:sp>
        <p:nvSpPr>
          <p:cNvPr id="4" name="TextBox 3"/>
          <p:cNvSpPr txBox="1"/>
          <p:nvPr/>
        </p:nvSpPr>
        <p:spPr>
          <a:xfrm>
            <a:off x="11094415" y="320040"/>
            <a:ext cx="731520" cy="365760"/>
          </a:xfrm>
          <a:prstGeom prst="rect">
            <a:avLst/>
          </a:prstGeom>
          <a:noFill/>
        </p:spPr>
        <p:txBody>
          <a:bodyPr wrap="square" anchor="t" lIns="45720" rIns="45720" tIns="18288" bIns="18288">
            <a:spAutoFit/>
          </a:bodyPr>
          <a:lstStyle/>
          <a:p>
            <a:pPr algn="r"/>
            <a:r>
              <a:rPr sz="1400" b="0" i="0">
                <a:solidFill>
                  <a:srgbClr val="B0C4DE"/>
                </a:solidFill>
                <a:latin typeface="Helvetica Neue"/>
              </a:rPr>
              <a:t>9</a:t>
            </a:r>
          </a:p>
        </p:txBody>
      </p:sp>
      <p:sp>
        <p:nvSpPr>
          <p:cNvPr id="5" name="Rectangle 4"/>
          <p:cNvSpPr/>
          <p:nvPr/>
        </p:nvSpPr>
        <p:spPr>
          <a:xfrm>
            <a:off x="0" y="6537960"/>
            <a:ext cx="12191695" cy="320040"/>
          </a:xfrm>
          <a:prstGeom prst="rect">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56248"/>
            <a:ext cx="9144000" cy="274320"/>
          </a:xfrm>
          <a:prstGeom prst="rect">
            <a:avLst/>
          </a:prstGeom>
          <a:noFill/>
        </p:spPr>
        <p:txBody>
          <a:bodyPr wrap="square" anchor="t" lIns="45720" rIns="45720" tIns="18288" bIns="18288">
            <a:spAutoFit/>
          </a:bodyPr>
          <a:lstStyle/>
          <a:p>
            <a:pPr algn="l"/>
            <a:r>
              <a:rPr sz="1100" b="0" i="0">
                <a:solidFill>
                  <a:srgbClr val="52514E"/>
                </a:solidFill>
                <a:latin typeface="Helvetica Neue"/>
              </a:rPr>
              <a:t>9th World One Health Congress · Lisbon 2026 · SCS23 LB · Abstract 2669</a:t>
            </a:r>
          </a:p>
        </p:txBody>
      </p:sp>
      <p:sp>
        <p:nvSpPr>
          <p:cNvPr id="7" name="Rectangle 6"/>
          <p:cNvSpPr/>
          <p:nvPr/>
        </p:nvSpPr>
        <p:spPr>
          <a:xfrm>
            <a:off x="640080" y="1371600"/>
            <a:ext cx="5394960" cy="4480560"/>
          </a:xfrm>
          <a:prstGeom prst="rect">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554480"/>
            <a:ext cx="4937760" cy="457200"/>
          </a:xfrm>
          <a:prstGeom prst="rect">
            <a:avLst/>
          </a:prstGeom>
          <a:noFill/>
        </p:spPr>
        <p:txBody>
          <a:bodyPr wrap="square" anchor="t" lIns="45720" rIns="45720" tIns="18288" bIns="18288">
            <a:spAutoFit/>
          </a:bodyPr>
          <a:lstStyle/>
          <a:p>
            <a:pPr algn="l"/>
            <a:r>
              <a:rPr sz="1800" b="1" i="0">
                <a:solidFill>
                  <a:srgbClr val="143A66"/>
                </a:solidFill>
                <a:latin typeface="Helvetica Neue"/>
              </a:rPr>
              <a:t>WHERE</a:t>
            </a:r>
          </a:p>
        </p:txBody>
      </p:sp>
      <p:sp>
        <p:nvSpPr>
          <p:cNvPr id="9" name="TextBox 8"/>
          <p:cNvSpPr txBox="1"/>
          <p:nvPr/>
        </p:nvSpPr>
        <p:spPr>
          <a:xfrm>
            <a:off x="822960" y="2103120"/>
            <a:ext cx="5029200" cy="1005840"/>
          </a:xfrm>
          <a:prstGeom prst="rect">
            <a:avLst/>
          </a:prstGeom>
          <a:noFill/>
        </p:spPr>
        <p:txBody>
          <a:bodyPr wrap="square">
            <a:spAutoFit/>
          </a:bodyPr>
          <a:lstStyle/>
          <a:p>
            <a:pPr>
              <a:spcAft>
                <a:spcPts val="800"/>
              </a:spcAft>
            </a:pPr>
            <a:r>
              <a:rPr sz="2000" b="1">
                <a:solidFill>
                  <a:srgbClr val="2A78D6"/>
                </a:solidFill>
                <a:latin typeface="Helvetica Neue"/>
              </a:rPr>
              <a:t>•  </a:t>
            </a:r>
            <a:r>
              <a:rPr sz="2000" b="0">
                <a:solidFill>
                  <a:srgbClr val="1A1A1A"/>
                </a:solidFill>
                <a:latin typeface="Helvetica Neue"/>
              </a:rPr>
              <a:t>The effect concentrates in the </a:t>
            </a:r>
            <a:r>
              <a:rPr sz="2000" b="1">
                <a:solidFill>
                  <a:srgbClr val="1A1A1A"/>
                </a:solidFill>
                <a:latin typeface="Helvetica Neue"/>
              </a:rPr>
              <a:t>semi-arid interior</a:t>
            </a:r>
            <a:r>
              <a:rPr sz="2000" b="0">
                <a:solidFill>
                  <a:srgbClr val="1A1A1A"/>
                </a:solidFill>
                <a:latin typeface="Helvetica Neue"/>
              </a:rPr>
              <a:t> — where drought is recurrent and water storage at home is routine</a:t>
            </a:r>
          </a:p>
        </p:txBody>
      </p:sp>
      <p:pic>
        <p:nvPicPr>
          <p:cNvPr id="10" name="Picture 9" descr="map_ne_semiarid_main.png"/>
          <p:cNvPicPr>
            <a:picLocks noChangeAspect="1"/>
          </p:cNvPicPr>
          <p:nvPr/>
        </p:nvPicPr>
        <p:blipFill>
          <a:blip r:embed="rId2"/>
          <a:stretch>
            <a:fillRect/>
          </a:stretch>
        </p:blipFill>
        <p:spPr>
          <a:xfrm>
            <a:off x="1417320" y="3154680"/>
            <a:ext cx="2648819" cy="2651760"/>
          </a:xfrm>
          <a:prstGeom prst="rect">
            <a:avLst/>
          </a:prstGeom>
        </p:spPr>
      </p:pic>
      <p:sp>
        <p:nvSpPr>
          <p:cNvPr id="11" name="Rectangle 10"/>
          <p:cNvSpPr/>
          <p:nvPr/>
        </p:nvSpPr>
        <p:spPr>
          <a:xfrm>
            <a:off x="6309360" y="1371600"/>
            <a:ext cx="5394960" cy="4480560"/>
          </a:xfrm>
          <a:prstGeom prst="rect">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1554480"/>
            <a:ext cx="4937760" cy="457200"/>
          </a:xfrm>
          <a:prstGeom prst="rect">
            <a:avLst/>
          </a:prstGeom>
          <a:noFill/>
        </p:spPr>
        <p:txBody>
          <a:bodyPr wrap="square" anchor="t" lIns="45720" rIns="45720" tIns="18288" bIns="18288">
            <a:spAutoFit/>
          </a:bodyPr>
          <a:lstStyle/>
          <a:p>
            <a:pPr algn="l"/>
            <a:r>
              <a:rPr sz="1800" b="1" i="0">
                <a:solidFill>
                  <a:srgbClr val="143A66"/>
                </a:solidFill>
                <a:latin typeface="Helvetica Neue"/>
              </a:rPr>
              <a:t>HOW</a:t>
            </a:r>
          </a:p>
        </p:txBody>
      </p:sp>
      <p:sp>
        <p:nvSpPr>
          <p:cNvPr id="13" name="TextBox 12"/>
          <p:cNvSpPr txBox="1"/>
          <p:nvPr/>
        </p:nvSpPr>
        <p:spPr>
          <a:xfrm>
            <a:off x="6492240" y="2103120"/>
            <a:ext cx="5029200" cy="3657600"/>
          </a:xfrm>
          <a:prstGeom prst="rect">
            <a:avLst/>
          </a:prstGeom>
          <a:noFill/>
        </p:spPr>
        <p:txBody>
          <a:bodyPr wrap="square">
            <a:spAutoFit/>
          </a:bodyPr>
          <a:lstStyle/>
          <a:p>
            <a:pPr>
              <a:spcAft>
                <a:spcPts val="800"/>
              </a:spcAft>
            </a:pPr>
            <a:r>
              <a:rPr sz="1700" b="1">
                <a:solidFill>
                  <a:srgbClr val="2A78D6"/>
                </a:solidFill>
                <a:latin typeface="Helvetica Neue"/>
              </a:rPr>
              <a:t>•  </a:t>
            </a:r>
            <a:r>
              <a:rPr sz="1700" b="1">
                <a:solidFill>
                  <a:srgbClr val="1A1A1A"/>
                </a:solidFill>
                <a:latin typeface="Helvetica Neue"/>
              </a:rPr>
              <a:t>Extensive margin:</a:t>
            </a:r>
            <a:r>
              <a:rPr sz="1700" b="0">
                <a:solidFill>
                  <a:srgbClr val="1A1A1A"/>
                </a:solidFill>
                <a:latin typeface="Helvetica Neue"/>
              </a:rPr>
              <a:t> previously quiescent municipalities </a:t>
            </a:r>
            <a:r>
              <a:rPr sz="1700" b="1">
                <a:solidFill>
                  <a:srgbClr val="1A1A1A"/>
                </a:solidFill>
                <a:latin typeface="Helvetica Neue"/>
              </a:rPr>
              <a:t>begin to register cases</a:t>
            </a:r>
            <a:r>
              <a:rPr sz="1700" b="0">
                <a:solidFill>
                  <a:srgbClr val="1A1A1A"/>
                </a:solidFill>
                <a:latin typeface="Helvetica Neue"/>
              </a:rPr>
              <a:t> — existing outbreaks are not amplified</a:t>
            </a:r>
          </a:p>
          <a:p>
            <a:pPr>
              <a:spcAft>
                <a:spcPts val="800"/>
              </a:spcAft>
            </a:pPr>
            <a:r>
              <a:rPr sz="1700" b="1">
                <a:solidFill>
                  <a:srgbClr val="2A78D6"/>
                </a:solidFill>
                <a:latin typeface="Helvetica Neue"/>
              </a:rPr>
              <a:t>•  </a:t>
            </a:r>
            <a:r>
              <a:rPr sz="1700" b="0">
                <a:solidFill>
                  <a:srgbClr val="1A1A1A"/>
                </a:solidFill>
                <a:latin typeface="Helvetica Neue"/>
              </a:rPr>
              <a:t>Consistent with a </a:t>
            </a:r>
            <a:r>
              <a:rPr sz="1700" b="1">
                <a:solidFill>
                  <a:srgbClr val="1A1A1A"/>
                </a:solidFill>
                <a:latin typeface="Helvetica Neue"/>
              </a:rPr>
              <a:t>water-scarcity channel</a:t>
            </a:r>
            <a:r>
              <a:rPr sz="1700" b="0">
                <a:solidFill>
                  <a:srgbClr val="1A1A1A"/>
                </a:solidFill>
                <a:latin typeface="Helvetica Neue"/>
              </a:rPr>
              <a:t> — plausibly household water storage creating breeding sites — which the design does </a:t>
            </a:r>
            <a:r>
              <a:rPr sz="1700" b="1">
                <a:solidFill>
                  <a:srgbClr val="1A1A1A"/>
                </a:solidFill>
                <a:latin typeface="Helvetica Neue"/>
              </a:rPr>
              <a:t>not test directly</a:t>
            </a:r>
          </a:p>
          <a:p>
            <a:pPr>
              <a:spcAft>
                <a:spcPts val="800"/>
              </a:spcAft>
            </a:pPr>
            <a:r>
              <a:rPr sz="1700" b="1">
                <a:solidFill>
                  <a:srgbClr val="2A78D6"/>
                </a:solidFill>
                <a:latin typeface="Helvetica Neue"/>
              </a:rPr>
              <a:t>•  </a:t>
            </a:r>
            <a:r>
              <a:rPr sz="1700" b="1">
                <a:solidFill>
                  <a:srgbClr val="1A1A1A"/>
                </a:solidFill>
                <a:latin typeface="Helvetica Neue"/>
              </a:rPr>
              <a:t>The sign depends on the water regime:</a:t>
            </a:r>
            <a:r>
              <a:rPr sz="1700" b="0">
                <a:solidFill>
                  <a:srgbClr val="1A1A1A"/>
                </a:solidFill>
                <a:latin typeface="Helvetica Neue"/>
              </a:rPr>
              <a:t> in monsoon Southeast Asia the same compound </a:t>
            </a:r>
            <a:r>
              <a:rPr sz="1700" b="1">
                <a:solidFill>
                  <a:srgbClr val="1A1A1A"/>
                </a:solidFill>
                <a:latin typeface="Helvetica Neue"/>
              </a:rPr>
              <a:t>lowers</a:t>
            </a:r>
            <a:r>
              <a:rPr sz="1700" b="0">
                <a:solidFill>
                  <a:srgbClr val="1A1A1A"/>
                </a:solidFill>
                <a:latin typeface="Helvetica Neue"/>
              </a:rPr>
              <a:t> dengue risk (Wang et al. 2026); under recurrent scarcity it </a:t>
            </a:r>
            <a:r>
              <a:rPr sz="1700" b="1">
                <a:solidFill>
                  <a:srgbClr val="1A1A1A"/>
                </a:solidFill>
                <a:latin typeface="Helvetica Neue"/>
              </a:rPr>
              <a:t>raises</a:t>
            </a:r>
            <a:r>
              <a:rPr sz="1700" b="0">
                <a:solidFill>
                  <a:srgbClr val="1A1A1A"/>
                </a:solidFill>
                <a:latin typeface="Helvetica Neue"/>
              </a:rPr>
              <a:t>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332720" cy="731520"/>
          </a:xfrm>
          <a:prstGeom prst="rect">
            <a:avLst/>
          </a:prstGeom>
          <a:noFill/>
        </p:spPr>
        <p:txBody>
          <a:bodyPr wrap="square" anchor="ctr" lIns="45720" rIns="45720" tIns="18288" bIns="18288">
            <a:spAutoFit/>
          </a:bodyPr>
          <a:lstStyle/>
          <a:p>
            <a:pPr algn="l"/>
            <a:r>
              <a:rPr sz="2700" b="1" i="0">
                <a:solidFill>
                  <a:srgbClr val="FFFFFF"/>
                </a:solidFill>
                <a:latin typeface="Helvetica Neue"/>
              </a:rPr>
              <a:t>Is it real? Random re-assignment gives nothing like it</a:t>
            </a:r>
          </a:p>
        </p:txBody>
      </p:sp>
      <p:sp>
        <p:nvSpPr>
          <p:cNvPr id="4" name="TextBox 3"/>
          <p:cNvSpPr txBox="1"/>
          <p:nvPr/>
        </p:nvSpPr>
        <p:spPr>
          <a:xfrm>
            <a:off x="11094415" y="320040"/>
            <a:ext cx="731520" cy="365760"/>
          </a:xfrm>
          <a:prstGeom prst="rect">
            <a:avLst/>
          </a:prstGeom>
          <a:noFill/>
        </p:spPr>
        <p:txBody>
          <a:bodyPr wrap="square" anchor="t" lIns="45720" rIns="45720" tIns="18288" bIns="18288">
            <a:spAutoFit/>
          </a:bodyPr>
          <a:lstStyle/>
          <a:p>
            <a:pPr algn="r"/>
            <a:r>
              <a:rPr sz="1400" b="0" i="0">
                <a:solidFill>
                  <a:srgbClr val="B0C4DE"/>
                </a:solidFill>
                <a:latin typeface="Helvetica Neue"/>
              </a:rPr>
              <a:t>10</a:t>
            </a:r>
          </a:p>
        </p:txBody>
      </p:sp>
      <p:sp>
        <p:nvSpPr>
          <p:cNvPr id="5" name="Rectangle 4"/>
          <p:cNvSpPr/>
          <p:nvPr/>
        </p:nvSpPr>
        <p:spPr>
          <a:xfrm>
            <a:off x="0" y="6537960"/>
            <a:ext cx="12191695" cy="320040"/>
          </a:xfrm>
          <a:prstGeom prst="rect">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56248"/>
            <a:ext cx="9144000" cy="274320"/>
          </a:xfrm>
          <a:prstGeom prst="rect">
            <a:avLst/>
          </a:prstGeom>
          <a:noFill/>
        </p:spPr>
        <p:txBody>
          <a:bodyPr wrap="square" anchor="t" lIns="45720" rIns="45720" tIns="18288" bIns="18288">
            <a:spAutoFit/>
          </a:bodyPr>
          <a:lstStyle/>
          <a:p>
            <a:pPr algn="l"/>
            <a:r>
              <a:rPr sz="1100" b="0" i="0">
                <a:solidFill>
                  <a:srgbClr val="52514E"/>
                </a:solidFill>
                <a:latin typeface="Helvetica Neue"/>
              </a:rPr>
              <a:t>9th World One Health Congress · Lisbon 2026 · SCS23 LB · Abstract 2669</a:t>
            </a:r>
          </a:p>
        </p:txBody>
      </p:sp>
      <p:pic>
        <p:nvPicPr>
          <p:cNvPr id="7" name="Picture 6" descr="placebo_spatial_en.png"/>
          <p:cNvPicPr>
            <a:picLocks noChangeAspect="1"/>
          </p:cNvPicPr>
          <p:nvPr/>
        </p:nvPicPr>
        <p:blipFill>
          <a:blip r:embed="rId2"/>
          <a:stretch>
            <a:fillRect/>
          </a:stretch>
        </p:blipFill>
        <p:spPr>
          <a:xfrm>
            <a:off x="457200" y="1188720"/>
            <a:ext cx="6949440" cy="3810983"/>
          </a:xfrm>
          <a:prstGeom prst="rect">
            <a:avLst/>
          </a:prstGeom>
        </p:spPr>
      </p:pic>
      <p:sp>
        <p:nvSpPr>
          <p:cNvPr id="8" name="TextBox 7"/>
          <p:cNvSpPr txBox="1"/>
          <p:nvPr/>
        </p:nvSpPr>
        <p:spPr>
          <a:xfrm>
            <a:off x="7680960" y="1463040"/>
            <a:ext cx="4114800" cy="4754880"/>
          </a:xfrm>
          <a:prstGeom prst="rect">
            <a:avLst/>
          </a:prstGeom>
          <a:noFill/>
        </p:spPr>
        <p:txBody>
          <a:bodyPr wrap="square">
            <a:spAutoFit/>
          </a:bodyPr>
          <a:lstStyle/>
          <a:p>
            <a:pPr>
              <a:spcAft>
                <a:spcPts val="800"/>
              </a:spcAft>
            </a:pPr>
            <a:r>
              <a:rPr sz="1800" b="1">
                <a:solidFill>
                  <a:srgbClr val="2A78D6"/>
                </a:solidFill>
                <a:latin typeface="Helvetica Neue"/>
              </a:rPr>
              <a:t>•  </a:t>
            </a:r>
            <a:r>
              <a:rPr sz="1800" b="1">
                <a:solidFill>
                  <a:srgbClr val="1A1A1A"/>
                </a:solidFill>
                <a:latin typeface="Helvetica Neue"/>
              </a:rPr>
              <a:t>Spatial permutation placebo:</a:t>
            </a:r>
            <a:r>
              <a:rPr sz="1800" b="0">
                <a:solidFill>
                  <a:srgbClr val="1A1A1A"/>
                </a:solidFill>
                <a:latin typeface="Helvetica Neue"/>
              </a:rPr>
              <a:t> shocks re-assigned at random within state × climate zone × month, 150 times — observed effect in the tail, </a:t>
            </a:r>
            <a:r>
              <a:rPr sz="1800" b="1">
                <a:solidFill>
                  <a:srgbClr val="1A1A1A"/>
                </a:solidFill>
                <a:latin typeface="Helvetica Neue"/>
              </a:rPr>
              <a:t>p = 0.007</a:t>
            </a:r>
          </a:p>
          <a:p>
            <a:pPr>
              <a:spcAft>
                <a:spcPts val="800"/>
              </a:spcAft>
            </a:pPr>
            <a:r>
              <a:rPr sz="1800" b="1">
                <a:solidFill>
                  <a:srgbClr val="2A78D6"/>
                </a:solidFill>
                <a:latin typeface="Helvetica Neue"/>
              </a:rPr>
              <a:t>•  </a:t>
            </a:r>
            <a:r>
              <a:rPr sz="1800" b="0">
                <a:solidFill>
                  <a:srgbClr val="1A1A1A"/>
                </a:solidFill>
                <a:latin typeface="Helvetica Neue"/>
              </a:rPr>
              <a:t>Robust to </a:t>
            </a:r>
            <a:r>
              <a:rPr sz="1800" b="1">
                <a:solidFill>
                  <a:srgbClr val="1A1A1A"/>
                </a:solidFill>
                <a:latin typeface="Helvetica Neue"/>
              </a:rPr>
              <a:t>finer regional trends</a:t>
            </a:r>
          </a:p>
          <a:p>
            <a:pPr>
              <a:spcAft>
                <a:spcPts val="800"/>
              </a:spcAft>
            </a:pPr>
            <a:r>
              <a:rPr sz="1800" b="1">
                <a:solidFill>
                  <a:srgbClr val="2A78D6"/>
                </a:solidFill>
                <a:latin typeface="Helvetica Neue"/>
              </a:rPr>
              <a:t>•  </a:t>
            </a:r>
            <a:r>
              <a:rPr sz="1800" b="0">
                <a:solidFill>
                  <a:srgbClr val="1A1A1A"/>
                </a:solidFill>
                <a:latin typeface="Helvetica Neue"/>
              </a:rPr>
              <a:t>Robust to </a:t>
            </a:r>
            <a:r>
              <a:rPr sz="1800" b="1">
                <a:solidFill>
                  <a:srgbClr val="1A1A1A"/>
                </a:solidFill>
                <a:latin typeface="Helvetica Neue"/>
              </a:rPr>
              <a:t>alternative drought indices</a:t>
            </a:r>
          </a:p>
          <a:p>
            <a:pPr>
              <a:spcAft>
                <a:spcPts val="800"/>
              </a:spcAft>
            </a:pPr>
            <a:r>
              <a:rPr sz="1800" b="1">
                <a:solidFill>
                  <a:srgbClr val="2A78D6"/>
                </a:solidFill>
                <a:latin typeface="Helvetica Neue"/>
              </a:rPr>
              <a:t>•  </a:t>
            </a:r>
            <a:r>
              <a:rPr sz="1800" b="0">
                <a:solidFill>
                  <a:srgbClr val="1A1A1A"/>
                </a:solidFill>
                <a:latin typeface="Helvetica Neue"/>
              </a:rPr>
              <a:t>Pre-shock placebos jointly zero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332720" cy="731520"/>
          </a:xfrm>
          <a:prstGeom prst="rect">
            <a:avLst/>
          </a:prstGeom>
          <a:noFill/>
        </p:spPr>
        <p:txBody>
          <a:bodyPr wrap="square" anchor="ctr" lIns="45720" rIns="45720" tIns="18288" bIns="18288">
            <a:spAutoFit/>
          </a:bodyPr>
          <a:lstStyle/>
          <a:p>
            <a:pPr algn="l"/>
            <a:r>
              <a:rPr sz="2700" b="1" i="0">
                <a:solidFill>
                  <a:srgbClr val="FFFFFF"/>
                </a:solidFill>
                <a:latin typeface="Helvetica Neue"/>
              </a:rPr>
              <a:t>What this means for One Health practice</a:t>
            </a:r>
          </a:p>
        </p:txBody>
      </p:sp>
      <p:sp>
        <p:nvSpPr>
          <p:cNvPr id="4" name="TextBox 3"/>
          <p:cNvSpPr txBox="1"/>
          <p:nvPr/>
        </p:nvSpPr>
        <p:spPr>
          <a:xfrm>
            <a:off x="11094415" y="320040"/>
            <a:ext cx="731520" cy="365760"/>
          </a:xfrm>
          <a:prstGeom prst="rect">
            <a:avLst/>
          </a:prstGeom>
          <a:noFill/>
        </p:spPr>
        <p:txBody>
          <a:bodyPr wrap="square" anchor="t" lIns="45720" rIns="45720" tIns="18288" bIns="18288">
            <a:spAutoFit/>
          </a:bodyPr>
          <a:lstStyle/>
          <a:p>
            <a:pPr algn="r"/>
            <a:r>
              <a:rPr sz="1400" b="0" i="0">
                <a:solidFill>
                  <a:srgbClr val="B0C4DE"/>
                </a:solidFill>
                <a:latin typeface="Helvetica Neue"/>
              </a:rPr>
              <a:t>11</a:t>
            </a:r>
          </a:p>
        </p:txBody>
      </p:sp>
      <p:sp>
        <p:nvSpPr>
          <p:cNvPr id="5" name="Rectangle 4"/>
          <p:cNvSpPr/>
          <p:nvPr/>
        </p:nvSpPr>
        <p:spPr>
          <a:xfrm>
            <a:off x="0" y="6537960"/>
            <a:ext cx="12191695" cy="320040"/>
          </a:xfrm>
          <a:prstGeom prst="rect">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56248"/>
            <a:ext cx="9144000" cy="274320"/>
          </a:xfrm>
          <a:prstGeom prst="rect">
            <a:avLst/>
          </a:prstGeom>
          <a:noFill/>
        </p:spPr>
        <p:txBody>
          <a:bodyPr wrap="square" anchor="t" lIns="45720" rIns="45720" tIns="18288" bIns="18288">
            <a:spAutoFit/>
          </a:bodyPr>
          <a:lstStyle/>
          <a:p>
            <a:pPr algn="l"/>
            <a:r>
              <a:rPr sz="1100" b="0" i="0">
                <a:solidFill>
                  <a:srgbClr val="52514E"/>
                </a:solidFill>
                <a:latin typeface="Helvetica Neue"/>
              </a:rPr>
              <a:t>9th World One Health Congress · Lisbon 2026 · SCS23 LB · Abstract 2669</a:t>
            </a:r>
          </a:p>
        </p:txBody>
      </p:sp>
      <p:sp>
        <p:nvSpPr>
          <p:cNvPr id="7" name="Rectangle 6"/>
          <p:cNvSpPr/>
          <p:nvPr/>
        </p:nvSpPr>
        <p:spPr>
          <a:xfrm>
            <a:off x="548640" y="1371600"/>
            <a:ext cx="3611880" cy="4572000"/>
          </a:xfrm>
          <a:prstGeom prst="rect">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54480"/>
            <a:ext cx="3246120" cy="822960"/>
          </a:xfrm>
          <a:prstGeom prst="rect">
            <a:avLst/>
          </a:prstGeom>
          <a:noFill/>
        </p:spPr>
        <p:txBody>
          <a:bodyPr wrap="square" anchor="t" lIns="45720" rIns="45720" tIns="18288" bIns="18288">
            <a:spAutoFit/>
          </a:bodyPr>
          <a:lstStyle/>
          <a:p>
            <a:pPr algn="l"/>
            <a:r>
              <a:rPr sz="1900" b="1" i="0">
                <a:solidFill>
                  <a:srgbClr val="143A66"/>
                </a:solidFill>
                <a:latin typeface="Helvetica Neue"/>
              </a:rPr>
              <a:t>A months-long warning window</a:t>
            </a:r>
          </a:p>
        </p:txBody>
      </p:sp>
      <p:sp>
        <p:nvSpPr>
          <p:cNvPr id="9" name="TextBox 8"/>
          <p:cNvSpPr txBox="1"/>
          <p:nvPr/>
        </p:nvSpPr>
        <p:spPr>
          <a:xfrm>
            <a:off x="731520" y="2468880"/>
            <a:ext cx="3246120" cy="3383280"/>
          </a:xfrm>
          <a:prstGeom prst="rect">
            <a:avLst/>
          </a:prstGeom>
          <a:noFill/>
        </p:spPr>
        <p:txBody>
          <a:bodyPr wrap="square" anchor="t" lIns="45720" rIns="45720" tIns="18288" bIns="18288">
            <a:spAutoFit/>
          </a:bodyPr>
          <a:lstStyle/>
          <a:p>
            <a:pPr algn="l"/>
            <a:r>
              <a:rPr sz="1550" b="0" i="0">
                <a:solidFill>
                  <a:srgbClr val="1A1A1A"/>
                </a:solidFill>
                <a:latin typeface="Helvetica Neue"/>
              </a:rPr>
              <a:t>The effect is lagged and datable: jointly monitoring heat and drought opens a window of several months for pre-emptive, geographically targeted vector control. The trigger is binary and readable in real time from open climate data — no health series or forecasting model needed. And because the effect is on the extensive margin, past outbreak maps are not enough to target it.</a:t>
            </a:r>
          </a:p>
        </p:txBody>
      </p:sp>
      <p:sp>
        <p:nvSpPr>
          <p:cNvPr id="10" name="Rectangle 9"/>
          <p:cNvSpPr/>
          <p:nvPr/>
        </p:nvSpPr>
        <p:spPr>
          <a:xfrm>
            <a:off x="4343400" y="1371600"/>
            <a:ext cx="3611880" cy="4572000"/>
          </a:xfrm>
          <a:prstGeom prst="rect">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554480"/>
            <a:ext cx="3246120" cy="822960"/>
          </a:xfrm>
          <a:prstGeom prst="rect">
            <a:avLst/>
          </a:prstGeom>
          <a:noFill/>
        </p:spPr>
        <p:txBody>
          <a:bodyPr wrap="square" anchor="t" lIns="45720" rIns="45720" tIns="18288" bIns="18288">
            <a:spAutoFit/>
          </a:bodyPr>
          <a:lstStyle/>
          <a:p>
            <a:pPr algn="l"/>
            <a:r>
              <a:rPr sz="1900" b="1" i="0">
                <a:solidFill>
                  <a:srgbClr val="143A66"/>
                </a:solidFill>
                <a:latin typeface="Helvetica Neue"/>
              </a:rPr>
              <a:t>Water as prevention</a:t>
            </a:r>
          </a:p>
        </p:txBody>
      </p:sp>
      <p:sp>
        <p:nvSpPr>
          <p:cNvPr id="12" name="TextBox 11"/>
          <p:cNvSpPr txBox="1"/>
          <p:nvPr/>
        </p:nvSpPr>
        <p:spPr>
          <a:xfrm>
            <a:off x="4526280" y="2468880"/>
            <a:ext cx="3246120" cy="3383280"/>
          </a:xfrm>
          <a:prstGeom prst="rect">
            <a:avLst/>
          </a:prstGeom>
          <a:noFill/>
        </p:spPr>
        <p:txBody>
          <a:bodyPr wrap="square" anchor="t" lIns="45720" rIns="45720" tIns="18288" bIns="18288">
            <a:spAutoFit/>
          </a:bodyPr>
          <a:lstStyle/>
          <a:p>
            <a:pPr algn="l"/>
            <a:r>
              <a:rPr sz="1550" b="0" i="0">
                <a:solidFill>
                  <a:srgbClr val="1A1A1A"/>
                </a:solidFill>
                <a:latin typeface="Helvetica Neue"/>
              </a:rPr>
              <a:t>Reliable water supply may serve as a complementary preventive margin — the dry arm of the water–arbovirus relationship now has quasi-experimental evidence.</a:t>
            </a:r>
          </a:p>
        </p:txBody>
      </p:sp>
      <p:sp>
        <p:nvSpPr>
          <p:cNvPr id="13" name="Rectangle 12"/>
          <p:cNvSpPr/>
          <p:nvPr/>
        </p:nvSpPr>
        <p:spPr>
          <a:xfrm>
            <a:off x="8138160" y="1371600"/>
            <a:ext cx="3611880" cy="4572000"/>
          </a:xfrm>
          <a:prstGeom prst="rect">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1554480"/>
            <a:ext cx="3246120" cy="822960"/>
          </a:xfrm>
          <a:prstGeom prst="rect">
            <a:avLst/>
          </a:prstGeom>
          <a:noFill/>
        </p:spPr>
        <p:txBody>
          <a:bodyPr wrap="square" anchor="t" lIns="45720" rIns="45720" tIns="18288" bIns="18288">
            <a:spAutoFit/>
          </a:bodyPr>
          <a:lstStyle/>
          <a:p>
            <a:pPr algn="l"/>
            <a:r>
              <a:rPr sz="1900" b="1" i="0">
                <a:solidFill>
                  <a:srgbClr val="143A66"/>
                </a:solidFill>
                <a:latin typeface="Helvetica Neue"/>
              </a:rPr>
              <a:t>Attribution, beyond arboviruses</a:t>
            </a:r>
          </a:p>
        </p:txBody>
      </p:sp>
      <p:sp>
        <p:nvSpPr>
          <p:cNvPr id="15" name="TextBox 14"/>
          <p:cNvSpPr txBox="1"/>
          <p:nvPr/>
        </p:nvSpPr>
        <p:spPr>
          <a:xfrm>
            <a:off x="8321040" y="2468880"/>
            <a:ext cx="3246120" cy="3383280"/>
          </a:xfrm>
          <a:prstGeom prst="rect">
            <a:avLst/>
          </a:prstGeom>
          <a:noFill/>
        </p:spPr>
        <p:txBody>
          <a:bodyPr wrap="square" anchor="t" lIns="45720" rIns="45720" tIns="18288" bIns="18288">
            <a:spAutoFit/>
          </a:bodyPr>
          <a:lstStyle/>
          <a:p>
            <a:pPr algn="l"/>
            <a:r>
              <a:rPr sz="1550" b="0" i="0">
                <a:solidFill>
                  <a:srgbClr val="1A1A1A"/>
                </a:solidFill>
                <a:latin typeface="Helvetica Neue"/>
              </a:rPr>
              <a:t>The design attributes the impact of an extreme event in a causal-counterfactual key: factual versus counterfactual incidence after a datable shock. Compound climate extremes can serve as datable, intermittent treatments in One Health causal designs — beyond arboviruses.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332720" cy="731520"/>
          </a:xfrm>
          <a:prstGeom prst="rect">
            <a:avLst/>
          </a:prstGeom>
          <a:noFill/>
        </p:spPr>
        <p:txBody>
          <a:bodyPr wrap="square" anchor="ctr" lIns="45720" rIns="45720" tIns="18288" bIns="18288">
            <a:spAutoFit/>
          </a:bodyPr>
          <a:lstStyle/>
          <a:p>
            <a:pPr algn="l"/>
            <a:r>
              <a:rPr sz="2700" b="1" i="0">
                <a:solidFill>
                  <a:srgbClr val="FFFFFF"/>
                </a:solidFill>
                <a:latin typeface="Helvetica Neue"/>
              </a:rPr>
              <a:t>Thank you — and disclosures</a:t>
            </a:r>
          </a:p>
        </p:txBody>
      </p:sp>
      <p:sp>
        <p:nvSpPr>
          <p:cNvPr id="4" name="TextBox 3"/>
          <p:cNvSpPr txBox="1"/>
          <p:nvPr/>
        </p:nvSpPr>
        <p:spPr>
          <a:xfrm>
            <a:off x="11094415" y="320040"/>
            <a:ext cx="731520" cy="365760"/>
          </a:xfrm>
          <a:prstGeom prst="rect">
            <a:avLst/>
          </a:prstGeom>
          <a:noFill/>
        </p:spPr>
        <p:txBody>
          <a:bodyPr wrap="square" anchor="t" lIns="45720" rIns="45720" tIns="18288" bIns="18288">
            <a:spAutoFit/>
          </a:bodyPr>
          <a:lstStyle/>
          <a:p>
            <a:pPr algn="r"/>
            <a:r>
              <a:rPr sz="1400" b="0" i="0">
                <a:solidFill>
                  <a:srgbClr val="B0C4DE"/>
                </a:solidFill>
                <a:latin typeface="Helvetica Neue"/>
              </a:rPr>
              <a:t>12</a:t>
            </a:r>
          </a:p>
        </p:txBody>
      </p:sp>
      <p:sp>
        <p:nvSpPr>
          <p:cNvPr id="5" name="Rectangle 4"/>
          <p:cNvSpPr/>
          <p:nvPr/>
        </p:nvSpPr>
        <p:spPr>
          <a:xfrm>
            <a:off x="0" y="6537960"/>
            <a:ext cx="12191695" cy="320040"/>
          </a:xfrm>
          <a:prstGeom prst="rect">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56248"/>
            <a:ext cx="9144000" cy="274320"/>
          </a:xfrm>
          <a:prstGeom prst="rect">
            <a:avLst/>
          </a:prstGeom>
          <a:noFill/>
        </p:spPr>
        <p:txBody>
          <a:bodyPr wrap="square" anchor="t" lIns="45720" rIns="45720" tIns="18288" bIns="18288">
            <a:spAutoFit/>
          </a:bodyPr>
          <a:lstStyle/>
          <a:p>
            <a:pPr algn="l"/>
            <a:r>
              <a:rPr sz="1100" b="0" i="0">
                <a:solidFill>
                  <a:srgbClr val="52514E"/>
                </a:solidFill>
                <a:latin typeface="Helvetica Neue"/>
              </a:rPr>
              <a:t>9th World One Health Congress · Lisbon 2026 · SCS23 LB · Abstract 2669</a:t>
            </a:r>
          </a:p>
        </p:txBody>
      </p:sp>
      <p:sp>
        <p:nvSpPr>
          <p:cNvPr id="7" name="TextBox 6"/>
          <p:cNvSpPr txBox="1"/>
          <p:nvPr/>
        </p:nvSpPr>
        <p:spPr>
          <a:xfrm>
            <a:off x="548640" y="1280160"/>
            <a:ext cx="6766560" cy="457200"/>
          </a:xfrm>
          <a:prstGeom prst="rect">
            <a:avLst/>
          </a:prstGeom>
          <a:noFill/>
        </p:spPr>
        <p:txBody>
          <a:bodyPr wrap="square" anchor="t" lIns="45720" rIns="45720" tIns="18288" bIns="18288">
            <a:spAutoFit/>
          </a:bodyPr>
          <a:lstStyle/>
          <a:p>
            <a:pPr algn="l"/>
            <a:r>
              <a:rPr sz="1800" b="1" i="0">
                <a:solidFill>
                  <a:srgbClr val="143A66"/>
                </a:solidFill>
                <a:latin typeface="Helvetica Neue"/>
              </a:rPr>
              <a:t>In one sentence</a:t>
            </a:r>
          </a:p>
        </p:txBody>
      </p:sp>
      <p:sp>
        <p:nvSpPr>
          <p:cNvPr id="8" name="TextBox 7"/>
          <p:cNvSpPr txBox="1"/>
          <p:nvPr/>
        </p:nvSpPr>
        <p:spPr>
          <a:xfrm>
            <a:off x="548640" y="1737360"/>
            <a:ext cx="6766560" cy="1463040"/>
          </a:xfrm>
          <a:prstGeom prst="rect">
            <a:avLst/>
          </a:prstGeom>
          <a:noFill/>
        </p:spPr>
        <p:txBody>
          <a:bodyPr wrap="square" anchor="t" lIns="45720" rIns="45720" tIns="18288" bIns="18288">
            <a:spAutoFit/>
          </a:bodyPr>
          <a:lstStyle/>
          <a:p>
            <a:pPr algn="l"/>
            <a:r>
              <a:rPr sz="2200" b="0" i="0">
                <a:solidFill>
                  <a:srgbClr val="1A1A1A"/>
                </a:solidFill>
                <a:latin typeface="Helvetica Neue"/>
              </a:rPr>
              <a:t>When extreme heat and drought coincide, notified arbovirus incidence rises months later — a signal that can be dated, mapped and acted upon.</a:t>
            </a:r>
          </a:p>
        </p:txBody>
      </p:sp>
      <p:sp>
        <p:nvSpPr>
          <p:cNvPr id="9" name="TextBox 8"/>
          <p:cNvSpPr txBox="1"/>
          <p:nvPr/>
        </p:nvSpPr>
        <p:spPr>
          <a:xfrm>
            <a:off x="548640" y="3474720"/>
            <a:ext cx="6766560" cy="457200"/>
          </a:xfrm>
          <a:prstGeom prst="rect">
            <a:avLst/>
          </a:prstGeom>
          <a:noFill/>
        </p:spPr>
        <p:txBody>
          <a:bodyPr wrap="square" anchor="t" lIns="45720" rIns="45720" tIns="18288" bIns="18288">
            <a:spAutoFit/>
          </a:bodyPr>
          <a:lstStyle/>
          <a:p>
            <a:pPr algn="l"/>
            <a:r>
              <a:rPr sz="1800" b="1" i="0">
                <a:solidFill>
                  <a:srgbClr val="143A66"/>
                </a:solidFill>
                <a:latin typeface="Helvetica Neue"/>
              </a:rPr>
              <a:t>Contact</a:t>
            </a:r>
          </a:p>
        </p:txBody>
      </p:sp>
      <p:sp>
        <p:nvSpPr>
          <p:cNvPr id="10" name="TextBox 9"/>
          <p:cNvSpPr txBox="1"/>
          <p:nvPr/>
        </p:nvSpPr>
        <p:spPr>
          <a:xfrm>
            <a:off x="548640" y="3931920"/>
            <a:ext cx="6766560" cy="1097280"/>
          </a:xfrm>
          <a:prstGeom prst="rect">
            <a:avLst/>
          </a:prstGeom>
          <a:noFill/>
        </p:spPr>
        <p:txBody>
          <a:bodyPr wrap="square" anchor="t" lIns="45720" rIns="45720" tIns="18288" bIns="18288">
            <a:spAutoFit/>
          </a:bodyPr>
          <a:lstStyle/>
          <a:p>
            <a:pPr algn="l"/>
            <a:r>
              <a:rPr sz="1700" b="0" i="0">
                <a:solidFill>
                  <a:srgbClr val="1A1A1A"/>
                </a:solidFill>
                <a:latin typeface="Helvetica Neue"/>
              </a:rPr>
              <a:t>Mattheus Rodrigues da Silva — PIMES/UFPE, Recife, Brazil</a:t>
            </a:r>
          </a:p>
          <a:p>
            <a:pPr algn="l"/>
            <a:r>
              <a:rPr sz="1700" b="0" i="0">
                <a:solidFill>
                  <a:srgbClr val="1A1A1A"/>
                </a:solidFill>
                <a:latin typeface="Helvetica Neue"/>
              </a:rPr>
              <a:t>mattheus.rodrigues@ufpe.br · +55 (83) 99615-4778</a:t>
            </a:r>
          </a:p>
        </p:txBody>
      </p:sp>
      <p:sp>
        <p:nvSpPr>
          <p:cNvPr id="11" name="Rectangle 10"/>
          <p:cNvSpPr/>
          <p:nvPr/>
        </p:nvSpPr>
        <p:spPr>
          <a:xfrm>
            <a:off x="7680960" y="1280160"/>
            <a:ext cx="4114800" cy="4206240"/>
          </a:xfrm>
          <a:prstGeom prst="rect">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0" y="1417320"/>
            <a:ext cx="3749039" cy="457200"/>
          </a:xfrm>
          <a:prstGeom prst="rect">
            <a:avLst/>
          </a:prstGeom>
          <a:noFill/>
        </p:spPr>
        <p:txBody>
          <a:bodyPr wrap="square" anchor="t" lIns="45720" rIns="45720" tIns="18288" bIns="18288">
            <a:spAutoFit/>
          </a:bodyPr>
          <a:lstStyle/>
          <a:p>
            <a:pPr algn="l"/>
            <a:r>
              <a:rPr sz="1600" b="1" i="0">
                <a:solidFill>
                  <a:srgbClr val="143A66"/>
                </a:solidFill>
                <a:latin typeface="Helvetica Neue"/>
              </a:rPr>
              <a:t>Use of artificial intelligence</a:t>
            </a:r>
          </a:p>
        </p:txBody>
      </p:sp>
      <p:sp>
        <p:nvSpPr>
          <p:cNvPr id="13" name="TextBox 12"/>
          <p:cNvSpPr txBox="1"/>
          <p:nvPr/>
        </p:nvSpPr>
        <p:spPr>
          <a:xfrm>
            <a:off x="7863840" y="1920240"/>
            <a:ext cx="3749039" cy="3474720"/>
          </a:xfrm>
          <a:prstGeom prst="rect">
            <a:avLst/>
          </a:prstGeom>
          <a:noFill/>
        </p:spPr>
        <p:txBody>
          <a:bodyPr wrap="square" anchor="t" lIns="45720" rIns="45720" tIns="18288" bIns="18288">
            <a:spAutoFit/>
          </a:bodyPr>
          <a:lstStyle/>
          <a:p>
            <a:pPr algn="l"/>
            <a:r>
              <a:rPr sz="1400" b="0" i="0">
                <a:solidFill>
                  <a:srgbClr val="1A1A1A"/>
                </a:solidFill>
                <a:latin typeface="Helvetica Neue"/>
              </a:rPr>
              <a:t>Generative AI (Claude, Anthropic) was used as a coding and editing assistant: drafting figure and slide layout code and language editing. Study design, data assembly, estimation, results and their interpretation are the authors' own and were verified by them.</a:t>
            </a:r>
          </a:p>
        </p:txBody>
      </p:sp>
      <p:sp>
        <p:nvSpPr>
          <p:cNvPr id="14" name="TextBox 13"/>
          <p:cNvSpPr txBox="1"/>
          <p:nvPr/>
        </p:nvSpPr>
        <p:spPr>
          <a:xfrm>
            <a:off x="548640" y="5303520"/>
            <a:ext cx="6766560" cy="640080"/>
          </a:xfrm>
          <a:prstGeom prst="rect">
            <a:avLst/>
          </a:prstGeom>
          <a:noFill/>
        </p:spPr>
        <p:txBody>
          <a:bodyPr wrap="square" anchor="t" lIns="45720" rIns="45720" tIns="18288" bIns="18288">
            <a:spAutoFit/>
          </a:bodyPr>
          <a:lstStyle/>
          <a:p>
            <a:pPr algn="l"/>
            <a:r>
              <a:rPr sz="1300" b="0" i="0">
                <a:solidFill>
                  <a:srgbClr val="52514E"/>
                </a:solidFill>
                <a:latin typeface="Helvetica Neue"/>
              </a:rPr>
              <a:t>Data: SINAN (Ministry of Health); gridded daily climate (Xavier et al.); IBGE.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